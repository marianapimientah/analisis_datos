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Crimson Pro Black"/>
      <p:regular r:id="rId201314"/>
    </p:embeddedFont>
    <p:embeddedFont>
      <p:font typeface="Crimson Pro"/>
      <p:regular r:id="rId201315"/>
    </p:embeddedFont>
    <p:embeddedFont>
      <p:font typeface="Crimson Pro SemiBold"/>
      <p:regular r:id="rId201316"/>
    </p:embeddedFont>
    <p:embeddedFont>
      <p:font typeface="Crimson Pro Bold"/>
      <p:regular r:id="rId201317"/>
    </p:embeddedFont>
    <p:embeddedFont>
      <p:font typeface="Heebo"/>
      <p:regular r:id="rId201318"/>
    </p:embeddedFont>
    <p:embeddedFont>
      <p:font typeface="Heebo SemiBold"/>
      <p:regular r:id="rId201319"/>
    </p:embeddedFont>
    <p:embeddedFont>
      <p:font typeface="Heebo Bold"/>
      <p:regular r:id="rId201320"/>
    </p:embeddedFont>
    <p:embeddedFont>
      <p:font typeface="Heebo Black"/>
      <p:regular r:id="rId2013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1"/>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50154" y="488851"/>
            <a:ext cx="6592921" cy="5880298"/>
          </a:xfrm>
          <a:prstGeom prst="roundRect">
            <a:avLst>
              <a:gd name="adj" fmla="val 395"/>
            </a:avLst>
          </a:prstGeom>
          <a:solidFill>
            <a:srgbClr val="3F1464"/>
          </a:solidFill>
          <a:ln/>
        </p:spPr>
      </p:sp>
      <p:sp>
        <p:nvSpPr>
          <p:cNvPr id="3" name="Shape 1"/>
          <p:cNvSpPr/>
          <p:nvPr/>
        </p:nvSpPr>
        <p:spPr>
          <a:xfrm>
            <a:off x="704733" y="2420045"/>
            <a:ext cx="1548171" cy="234950"/>
          </a:xfrm>
          <a:prstGeom prst="roundRect">
            <a:avLst>
              <a:gd name="adj" fmla="val 7900"/>
            </a:avLst>
          </a:prstGeom>
          <a:solidFill>
            <a:srgbClr val="A034FE"/>
          </a:solidFill>
          <a:ln/>
        </p:spPr>
      </p:sp>
      <p:sp>
        <p:nvSpPr>
          <p:cNvPr id="4" name="Text 2"/>
          <p:cNvSpPr/>
          <p:nvPr/>
        </p:nvSpPr>
        <p:spPr>
          <a:xfrm>
            <a:off x="797500" y="2466380"/>
            <a:ext cx="1972221" cy="142280"/>
          </a:xfrm>
          <a:prstGeom prst="rect">
            <a:avLst/>
          </a:prstGeom>
          <a:noFill/>
          <a:ln/>
        </p:spPr>
        <p:txBody>
          <a:bodyPr wrap="none" lIns="0" tIns="0" rIns="0" bIns="0" rtlCol="0" anchor="t"/>
          <a:lstStyle/>
          <a:p>
            <a:pPr algn="l" indent="0" marL="0">
              <a:lnSpc>
                <a:spcPct val="96000"/>
              </a:lnSpc>
              <a:buNone/>
            </a:pPr>
            <a:r>
              <a:rPr lang="en-US" sz="950" dirty="0">
                <a:solidFill>
                  <a:srgbClr val="FFFFFF"/>
                </a:solidFill>
                <a:latin typeface="Heebo" pitchFamily="34" charset="0"/>
                <a:ea typeface="Heebo" pitchFamily="34" charset="-122"/>
                <a:cs typeface="Heebo" pitchFamily="34" charset="-120"/>
              </a:rPr>
              <a:t>ACERCAMIENTO AL ROL</a:t>
            </a:r>
            <a:endParaRPr lang="en-US" sz="950" dirty="0"/>
          </a:p>
        </p:txBody>
      </p:sp>
      <p:sp>
        <p:nvSpPr>
          <p:cNvPr id="5" name="Text 3"/>
          <p:cNvSpPr/>
          <p:nvPr/>
        </p:nvSpPr>
        <p:spPr>
          <a:xfrm>
            <a:off x="704733" y="2712839"/>
            <a:ext cx="6283763" cy="666948"/>
          </a:xfrm>
          <a:prstGeom prst="rect">
            <a:avLst/>
          </a:prstGeom>
          <a:noFill/>
          <a:ln/>
        </p:spPr>
        <p:txBody>
          <a:bodyPr wrap="none" lIns="0" tIns="0" rIns="0" bIns="0" rtlCol="0" anchor="t"/>
          <a:lstStyle/>
          <a:p>
            <a:pPr algn="l" indent="0" marL="0">
              <a:lnSpc>
                <a:spcPct val="104000"/>
              </a:lnSpc>
              <a:buNone/>
            </a:pPr>
            <a:r>
              <a:rPr lang="en-US" sz="4200" dirty="0">
                <a:solidFill>
                  <a:srgbClr val="FFFFFF"/>
                </a:solidFill>
                <a:latin typeface="Crimson Pro SemiBold" pitchFamily="34" charset="0"/>
                <a:ea typeface="Crimson Pro SemiBold" pitchFamily="34" charset="-122"/>
                <a:cs typeface="Crimson Pro SemiBold" pitchFamily="34" charset="-120"/>
              </a:rPr>
              <a:t>Mariana Pimienta</a:t>
            </a:r>
            <a:endParaRPr lang="en-US" sz="4200" dirty="0"/>
          </a:p>
        </p:txBody>
      </p:sp>
      <p:sp>
        <p:nvSpPr>
          <p:cNvPr id="6" name="Shape 4"/>
          <p:cNvSpPr/>
          <p:nvPr/>
        </p:nvSpPr>
        <p:spPr>
          <a:xfrm>
            <a:off x="704733" y="3581102"/>
            <a:ext cx="6283763" cy="19050"/>
          </a:xfrm>
          <a:prstGeom prst="roundRect">
            <a:avLst>
              <a:gd name="adj" fmla="val 49999"/>
            </a:avLst>
          </a:prstGeom>
          <a:solidFill>
            <a:srgbClr val="FFFFFF">
              <a:alpha val="50000"/>
            </a:srgbClr>
          </a:solidFill>
          <a:ln/>
        </p:spPr>
      </p:sp>
      <p:sp>
        <p:nvSpPr>
          <p:cNvPr id="7" name="Text 5"/>
          <p:cNvSpPr/>
          <p:nvPr/>
        </p:nvSpPr>
        <p:spPr>
          <a:xfrm>
            <a:off x="704733" y="3801467"/>
            <a:ext cx="6893348" cy="299343"/>
          </a:xfrm>
          <a:prstGeom prst="rect">
            <a:avLst/>
          </a:prstGeom>
          <a:noFill/>
          <a:ln/>
        </p:spPr>
        <p:txBody>
          <a:bodyPr wrap="none" lIns="0" tIns="0" rIns="0" bIns="0" rtlCol="0" anchor="t"/>
          <a:lstStyle/>
          <a:p>
            <a:pPr algn="l" indent="0" marL="0">
              <a:lnSpc>
                <a:spcPct val="129000"/>
              </a:lnSpc>
              <a:buNone/>
            </a:pPr>
            <a:r>
              <a:rPr lang="en-US" sz="1500" b="1" dirty="0">
                <a:solidFill>
                  <a:srgbClr val="FFFFFF"/>
                </a:solidFill>
                <a:latin typeface="Heebo Bold" pitchFamily="34" charset="0"/>
                <a:ea typeface="Heebo Bold" pitchFamily="34" charset="-122"/>
                <a:cs typeface="Heebo Bold" pitchFamily="34" charset="-120"/>
              </a:rPr>
              <a:t>Prueba Práctica | Analista de Datos</a:t>
            </a:r>
            <a:endParaRPr lang="en-US" sz="1500" dirty="0"/>
          </a:p>
        </p:txBody>
      </p:sp>
      <p:sp>
        <p:nvSpPr>
          <p:cNvPr id="8" name="Text 6"/>
          <p:cNvSpPr/>
          <p:nvPr/>
        </p:nvSpPr>
        <p:spPr>
          <a:xfrm>
            <a:off x="704733" y="4230985"/>
            <a:ext cx="6893348" cy="239415"/>
          </a:xfrm>
          <a:prstGeom prst="rect">
            <a:avLst/>
          </a:prstGeom>
          <a:noFill/>
          <a:ln/>
        </p:spPr>
        <p:txBody>
          <a:bodyPr wrap="none" lIns="0" tIns="0" rIns="0" bIns="0" rtlCol="0" anchor="t"/>
          <a:lstStyle/>
          <a:p>
            <a:pPr algn="l" indent="0" marL="0">
              <a:lnSpc>
                <a:spcPct val="129000"/>
              </a:lnSpc>
              <a:buNone/>
            </a:pPr>
            <a:r>
              <a:rPr lang="en-US" sz="1200" dirty="0">
                <a:solidFill>
                  <a:srgbClr val="FFFFFF"/>
                </a:solidFill>
                <a:latin typeface="Heebo" pitchFamily="34" charset="0"/>
                <a:ea typeface="Heebo" pitchFamily="34" charset="-122"/>
                <a:cs typeface="Heebo" pitchFamily="34" charset="-120"/>
              </a:rPr>
              <a:t>Análisis de datos para apoyar la toma de decisiones basada en evidencia.</a:t>
            </a:r>
            <a:endParaRPr lang="en-US" sz="1200" dirty="0"/>
          </a:p>
        </p:txBody>
      </p:sp>
      <p:sp>
        <p:nvSpPr>
          <p:cNvPr id="9" name="Text 7"/>
          <p:cNvSpPr/>
          <p:nvPr/>
        </p:nvSpPr>
        <p:spPr>
          <a:xfrm>
            <a:off x="7415325" y="651570"/>
            <a:ext cx="309257" cy="193278"/>
          </a:xfrm>
          <a:prstGeom prst="rect">
            <a:avLst/>
          </a:prstGeom>
          <a:noFill/>
          <a:ln/>
        </p:spPr>
        <p:txBody>
          <a:bodyPr wrap="none" lIns="0" tIns="0" rIns="0" bIns="0" rtlCol="0" anchor="ctr"/>
          <a:lstStyle/>
          <a:p>
            <a:pPr algn="l" indent="0" marL="0">
              <a:lnSpc>
                <a:spcPct val="100000"/>
              </a:lnSpc>
              <a:buNone/>
            </a:pPr>
            <a:r>
              <a:rPr lang="en-US" sz="1200" dirty="0">
                <a:solidFill>
                  <a:srgbClr val="4C4C4D"/>
                </a:solidFill>
                <a:latin typeface="Crimson Pro Light" pitchFamily="34" charset="0"/>
                <a:ea typeface="Crimson Pro Light" pitchFamily="34" charset="-122"/>
                <a:cs typeface="Crimson Pro Light" pitchFamily="34" charset="-120"/>
              </a:rPr>
              <a:t>01</a:t>
            </a:r>
            <a:endParaRPr lang="en-US" sz="1200" dirty="0"/>
          </a:p>
        </p:txBody>
      </p:sp>
      <p:sp>
        <p:nvSpPr>
          <p:cNvPr id="10" name="Shape 8"/>
          <p:cNvSpPr/>
          <p:nvPr/>
        </p:nvSpPr>
        <p:spPr>
          <a:xfrm>
            <a:off x="7415325" y="895251"/>
            <a:ext cx="4121146" cy="19050"/>
          </a:xfrm>
          <a:prstGeom prst="rect">
            <a:avLst/>
          </a:prstGeom>
          <a:solidFill>
            <a:srgbClr val="A034FE"/>
          </a:solidFill>
          <a:ln/>
        </p:spPr>
      </p:sp>
      <p:sp>
        <p:nvSpPr>
          <p:cNvPr id="11" name="Text 9"/>
          <p:cNvSpPr/>
          <p:nvPr/>
        </p:nvSpPr>
        <p:spPr>
          <a:xfrm>
            <a:off x="7415325" y="1010642"/>
            <a:ext cx="4121146" cy="241697"/>
          </a:xfrm>
          <a:prstGeom prst="rect">
            <a:avLst/>
          </a:prstGeom>
          <a:noFill/>
          <a:ln/>
        </p:spPr>
        <p:txBody>
          <a:bodyPr wrap="none" lIns="0" tIns="0" rIns="0" bIns="0" rtlCol="0" anchor="t"/>
          <a:lstStyle/>
          <a:p>
            <a:pPr algn="l" indent="0" marL="0">
              <a:lnSpc>
                <a:spcPct val="104000"/>
              </a:lnSpc>
              <a:buNone/>
            </a:pPr>
            <a:r>
              <a:rPr lang="en-US" sz="1500" dirty="0">
                <a:solidFill>
                  <a:srgbClr val="4C4C4D"/>
                </a:solidFill>
                <a:latin typeface="Crimson Pro SemiBold" pitchFamily="34" charset="0"/>
                <a:ea typeface="Crimson Pro SemiBold" pitchFamily="34" charset="-122"/>
                <a:cs typeface="Crimson Pro SemiBold" pitchFamily="34" charset="-120"/>
              </a:rPr>
              <a:t>Segmentación de comercios</a:t>
            </a:r>
            <a:endParaRPr lang="en-US" sz="1500" dirty="0"/>
          </a:p>
        </p:txBody>
      </p:sp>
      <p:sp>
        <p:nvSpPr>
          <p:cNvPr id="12" name="Text 10"/>
          <p:cNvSpPr/>
          <p:nvPr/>
        </p:nvSpPr>
        <p:spPr>
          <a:xfrm>
            <a:off x="7415325" y="1396901"/>
            <a:ext cx="4121146" cy="478830"/>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4C4C4D"/>
                </a:solidFill>
                <a:latin typeface="Heebo" pitchFamily="34" charset="0"/>
                <a:ea typeface="Heebo" pitchFamily="34" charset="-122"/>
                <a:cs typeface="Heebo" pitchFamily="34" charset="-120"/>
              </a:rPr>
              <a:t>Modelo Business Score, clasificación de clientes y dashboard de KPIs.</a:t>
            </a:r>
            <a:endParaRPr lang="en-US" sz="1200" dirty="0"/>
          </a:p>
        </p:txBody>
      </p:sp>
      <p:sp>
        <p:nvSpPr>
          <p:cNvPr id="13" name="Text 11"/>
          <p:cNvSpPr/>
          <p:nvPr/>
        </p:nvSpPr>
        <p:spPr>
          <a:xfrm>
            <a:off x="7415325" y="2136279"/>
            <a:ext cx="309257" cy="193278"/>
          </a:xfrm>
          <a:prstGeom prst="rect">
            <a:avLst/>
          </a:prstGeom>
          <a:noFill/>
          <a:ln/>
        </p:spPr>
        <p:txBody>
          <a:bodyPr wrap="none" lIns="0" tIns="0" rIns="0" bIns="0" rtlCol="0" anchor="ctr"/>
          <a:lstStyle/>
          <a:p>
            <a:pPr algn="l" indent="0" marL="0">
              <a:lnSpc>
                <a:spcPct val="100000"/>
              </a:lnSpc>
              <a:buNone/>
            </a:pPr>
            <a:r>
              <a:rPr lang="en-US" sz="1200" dirty="0">
                <a:solidFill>
                  <a:srgbClr val="4C4C4D"/>
                </a:solidFill>
                <a:latin typeface="Crimson Pro Light" pitchFamily="34" charset="0"/>
                <a:ea typeface="Crimson Pro Light" pitchFamily="34" charset="-122"/>
                <a:cs typeface="Crimson Pro Light" pitchFamily="34" charset="-120"/>
              </a:rPr>
              <a:t>02</a:t>
            </a:r>
            <a:endParaRPr lang="en-US" sz="1200" dirty="0"/>
          </a:p>
        </p:txBody>
      </p:sp>
      <p:sp>
        <p:nvSpPr>
          <p:cNvPr id="14" name="Shape 12"/>
          <p:cNvSpPr/>
          <p:nvPr/>
        </p:nvSpPr>
        <p:spPr>
          <a:xfrm>
            <a:off x="7415325" y="2379960"/>
            <a:ext cx="4121146" cy="19050"/>
          </a:xfrm>
          <a:prstGeom prst="rect">
            <a:avLst/>
          </a:prstGeom>
          <a:solidFill>
            <a:srgbClr val="A034FE"/>
          </a:solidFill>
          <a:ln/>
        </p:spPr>
      </p:sp>
      <p:sp>
        <p:nvSpPr>
          <p:cNvPr id="15" name="Text 13"/>
          <p:cNvSpPr/>
          <p:nvPr/>
        </p:nvSpPr>
        <p:spPr>
          <a:xfrm>
            <a:off x="7415325" y="2495352"/>
            <a:ext cx="4121146" cy="241697"/>
          </a:xfrm>
          <a:prstGeom prst="rect">
            <a:avLst/>
          </a:prstGeom>
          <a:noFill/>
          <a:ln/>
        </p:spPr>
        <p:txBody>
          <a:bodyPr wrap="none" lIns="0" tIns="0" rIns="0" bIns="0" rtlCol="0" anchor="t"/>
          <a:lstStyle/>
          <a:p>
            <a:pPr algn="l" indent="0" marL="0">
              <a:lnSpc>
                <a:spcPct val="104000"/>
              </a:lnSpc>
              <a:buNone/>
            </a:pPr>
            <a:r>
              <a:rPr lang="en-US" sz="1500" dirty="0">
                <a:solidFill>
                  <a:srgbClr val="4C4C4D"/>
                </a:solidFill>
                <a:latin typeface="Crimson Pro SemiBold" pitchFamily="34" charset="0"/>
                <a:ea typeface="Crimson Pro SemiBold" pitchFamily="34" charset="-122"/>
                <a:cs typeface="Crimson Pro SemiBold" pitchFamily="34" charset="-120"/>
              </a:rPr>
              <a:t>Forecast de TCRM</a:t>
            </a:r>
            <a:endParaRPr lang="en-US" sz="1500" dirty="0"/>
          </a:p>
        </p:txBody>
      </p:sp>
      <p:sp>
        <p:nvSpPr>
          <p:cNvPr id="16" name="Text 14"/>
          <p:cNvSpPr/>
          <p:nvPr/>
        </p:nvSpPr>
        <p:spPr>
          <a:xfrm>
            <a:off x="7415325" y="2881610"/>
            <a:ext cx="4121146" cy="478830"/>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4C4C4D"/>
                </a:solidFill>
                <a:latin typeface="Heebo" pitchFamily="34" charset="0"/>
                <a:ea typeface="Heebo" pitchFamily="34" charset="-122"/>
                <a:cs typeface="Heebo" pitchFamily="34" charset="-120"/>
              </a:rPr>
              <a:t>Análisis histórico, tratamiento de datos y proyección mediante SARIMA.</a:t>
            </a:r>
            <a:endParaRPr lang="en-US" sz="1200" dirty="0"/>
          </a:p>
        </p:txBody>
      </p:sp>
      <p:sp>
        <p:nvSpPr>
          <p:cNvPr id="17" name="Text 15"/>
          <p:cNvSpPr/>
          <p:nvPr/>
        </p:nvSpPr>
        <p:spPr>
          <a:xfrm>
            <a:off x="7415325" y="3620988"/>
            <a:ext cx="309257" cy="193278"/>
          </a:xfrm>
          <a:prstGeom prst="rect">
            <a:avLst/>
          </a:prstGeom>
          <a:noFill/>
          <a:ln/>
        </p:spPr>
        <p:txBody>
          <a:bodyPr wrap="none" lIns="0" tIns="0" rIns="0" bIns="0" rtlCol="0" anchor="ctr"/>
          <a:lstStyle/>
          <a:p>
            <a:pPr algn="l" indent="0" marL="0">
              <a:lnSpc>
                <a:spcPct val="100000"/>
              </a:lnSpc>
              <a:buNone/>
            </a:pPr>
            <a:r>
              <a:rPr lang="en-US" sz="1200" dirty="0">
                <a:solidFill>
                  <a:srgbClr val="4C4C4D"/>
                </a:solidFill>
                <a:latin typeface="Crimson Pro Light" pitchFamily="34" charset="0"/>
                <a:ea typeface="Crimson Pro Light" pitchFamily="34" charset="-122"/>
                <a:cs typeface="Crimson Pro Light" pitchFamily="34" charset="-120"/>
              </a:rPr>
              <a:t>03</a:t>
            </a:r>
            <a:endParaRPr lang="en-US" sz="1200" dirty="0"/>
          </a:p>
        </p:txBody>
      </p:sp>
      <p:sp>
        <p:nvSpPr>
          <p:cNvPr id="18" name="Shape 16"/>
          <p:cNvSpPr/>
          <p:nvPr/>
        </p:nvSpPr>
        <p:spPr>
          <a:xfrm>
            <a:off x="7415325" y="3864670"/>
            <a:ext cx="4121146" cy="19050"/>
          </a:xfrm>
          <a:prstGeom prst="rect">
            <a:avLst/>
          </a:prstGeom>
          <a:solidFill>
            <a:srgbClr val="A034FE"/>
          </a:solidFill>
          <a:ln/>
        </p:spPr>
      </p:sp>
      <p:sp>
        <p:nvSpPr>
          <p:cNvPr id="19" name="Text 17"/>
          <p:cNvSpPr/>
          <p:nvPr/>
        </p:nvSpPr>
        <p:spPr>
          <a:xfrm>
            <a:off x="7415325" y="3980061"/>
            <a:ext cx="4121146" cy="241697"/>
          </a:xfrm>
          <a:prstGeom prst="rect">
            <a:avLst/>
          </a:prstGeom>
          <a:noFill/>
          <a:ln/>
        </p:spPr>
        <p:txBody>
          <a:bodyPr wrap="none" lIns="0" tIns="0" rIns="0" bIns="0" rtlCol="0" anchor="t"/>
          <a:lstStyle/>
          <a:p>
            <a:pPr algn="l" indent="0" marL="0">
              <a:lnSpc>
                <a:spcPct val="104000"/>
              </a:lnSpc>
              <a:buNone/>
            </a:pPr>
            <a:r>
              <a:rPr lang="en-US" sz="1500" dirty="0">
                <a:solidFill>
                  <a:srgbClr val="4C4C4D"/>
                </a:solidFill>
                <a:latin typeface="Crimson Pro SemiBold" pitchFamily="34" charset="0"/>
                <a:ea typeface="Crimson Pro SemiBold" pitchFamily="34" charset="-122"/>
                <a:cs typeface="Crimson Pro SemiBold" pitchFamily="34" charset="-120"/>
              </a:rPr>
              <a:t>Analítica Digital</a:t>
            </a:r>
            <a:endParaRPr lang="en-US" sz="1500" dirty="0"/>
          </a:p>
        </p:txBody>
      </p:sp>
      <p:sp>
        <p:nvSpPr>
          <p:cNvPr id="20" name="Text 18"/>
          <p:cNvSpPr/>
          <p:nvPr/>
        </p:nvSpPr>
        <p:spPr>
          <a:xfrm>
            <a:off x="7415325" y="4366320"/>
            <a:ext cx="4121146" cy="478830"/>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4C4C4D"/>
                </a:solidFill>
                <a:latin typeface="Heebo" pitchFamily="34" charset="0"/>
                <a:ea typeface="Heebo" pitchFamily="34" charset="-122"/>
                <a:cs typeface="Heebo" pitchFamily="34" charset="-120"/>
              </a:rPr>
              <a:t>Respuestas fundamentadas sobre Google Analytics y Google Tag Manager.</a:t>
            </a:r>
            <a:endParaRPr lang="en-US" sz="1200" dirty="0"/>
          </a:p>
        </p:txBody>
      </p:sp>
      <p:sp>
        <p:nvSpPr>
          <p:cNvPr id="21" name="Text 19"/>
          <p:cNvSpPr/>
          <p:nvPr/>
        </p:nvSpPr>
        <p:spPr>
          <a:xfrm>
            <a:off x="7415325" y="5105698"/>
            <a:ext cx="309257" cy="193278"/>
          </a:xfrm>
          <a:prstGeom prst="rect">
            <a:avLst/>
          </a:prstGeom>
          <a:noFill/>
          <a:ln/>
        </p:spPr>
        <p:txBody>
          <a:bodyPr wrap="none" lIns="0" tIns="0" rIns="0" bIns="0" rtlCol="0" anchor="ctr"/>
          <a:lstStyle/>
          <a:p>
            <a:pPr algn="l" indent="0" marL="0">
              <a:lnSpc>
                <a:spcPct val="100000"/>
              </a:lnSpc>
              <a:buNone/>
            </a:pPr>
            <a:r>
              <a:rPr lang="en-US" sz="1200" dirty="0">
                <a:solidFill>
                  <a:srgbClr val="4C4C4D"/>
                </a:solidFill>
                <a:latin typeface="Crimson Pro Light" pitchFamily="34" charset="0"/>
                <a:ea typeface="Crimson Pro Light" pitchFamily="34" charset="-122"/>
                <a:cs typeface="Crimson Pro Light" pitchFamily="34" charset="-120"/>
              </a:rPr>
              <a:t>04</a:t>
            </a:r>
            <a:endParaRPr lang="en-US" sz="1200" dirty="0"/>
          </a:p>
        </p:txBody>
      </p:sp>
      <p:sp>
        <p:nvSpPr>
          <p:cNvPr id="22" name="Shape 20"/>
          <p:cNvSpPr/>
          <p:nvPr/>
        </p:nvSpPr>
        <p:spPr>
          <a:xfrm>
            <a:off x="7415325" y="5349379"/>
            <a:ext cx="4121146" cy="19050"/>
          </a:xfrm>
          <a:prstGeom prst="rect">
            <a:avLst/>
          </a:prstGeom>
          <a:solidFill>
            <a:srgbClr val="A034FE"/>
          </a:solidFill>
          <a:ln/>
        </p:spPr>
      </p:sp>
      <p:sp>
        <p:nvSpPr>
          <p:cNvPr id="23" name="Text 21"/>
          <p:cNvSpPr/>
          <p:nvPr/>
        </p:nvSpPr>
        <p:spPr>
          <a:xfrm>
            <a:off x="7415325" y="5464770"/>
            <a:ext cx="4121146" cy="241697"/>
          </a:xfrm>
          <a:prstGeom prst="rect">
            <a:avLst/>
          </a:prstGeom>
          <a:noFill/>
          <a:ln/>
        </p:spPr>
        <p:txBody>
          <a:bodyPr wrap="none" lIns="0" tIns="0" rIns="0" bIns="0" rtlCol="0" anchor="t"/>
          <a:lstStyle/>
          <a:p>
            <a:pPr algn="l" indent="0" marL="0">
              <a:lnSpc>
                <a:spcPct val="104000"/>
              </a:lnSpc>
              <a:buNone/>
            </a:pPr>
            <a:r>
              <a:rPr lang="en-US" sz="1500" dirty="0">
                <a:solidFill>
                  <a:srgbClr val="4C4C4D"/>
                </a:solidFill>
                <a:latin typeface="Crimson Pro SemiBold" pitchFamily="34" charset="0"/>
                <a:ea typeface="Crimson Pro SemiBold" pitchFamily="34" charset="-122"/>
                <a:cs typeface="Crimson Pro SemiBold" pitchFamily="34" charset="-120"/>
              </a:rPr>
              <a:t>Evaluación de campaña</a:t>
            </a:r>
            <a:endParaRPr lang="en-US" sz="1500" dirty="0"/>
          </a:p>
        </p:txBody>
      </p:sp>
      <p:sp>
        <p:nvSpPr>
          <p:cNvPr id="24" name="Text 22"/>
          <p:cNvSpPr/>
          <p:nvPr/>
        </p:nvSpPr>
        <p:spPr>
          <a:xfrm>
            <a:off x="7415325" y="5851029"/>
            <a:ext cx="4121146" cy="239415"/>
          </a:xfrm>
          <a:prstGeom prst="rect">
            <a:avLst/>
          </a:prstGeom>
          <a:noFill/>
          <a:ln/>
        </p:spPr>
        <p:txBody>
          <a:bodyPr wrap="none" lIns="0" tIns="0" rIns="0" bIns="0" rtlCol="0" anchor="t"/>
          <a:lstStyle/>
          <a:p>
            <a:pPr algn="l" indent="0" marL="0">
              <a:lnSpc>
                <a:spcPct val="129000"/>
              </a:lnSpc>
              <a:buNone/>
            </a:pPr>
            <a:r>
              <a:rPr lang="en-US" sz="1200" dirty="0">
                <a:solidFill>
                  <a:srgbClr val="4C4C4D"/>
                </a:solidFill>
                <a:latin typeface="Heebo" pitchFamily="34" charset="0"/>
                <a:ea typeface="Heebo" pitchFamily="34" charset="-122"/>
                <a:cs typeface="Heebo" pitchFamily="34" charset="-120"/>
              </a:rPr>
              <a:t>Conclusiones accionables de negocio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723702"/>
            <a:ext cx="831234" cy="238820"/>
          </a:xfrm>
          <a:prstGeom prst="roundRect">
            <a:avLst>
              <a:gd name="adj" fmla="val 7895"/>
            </a:avLst>
          </a:prstGeom>
          <a:noFill/>
          <a:ln w="6350">
            <a:solidFill>
              <a:srgbClr val="A034FE"/>
            </a:solidFill>
            <a:prstDash val="solid"/>
          </a:ln>
        </p:spPr>
      </p:sp>
      <p:sp>
        <p:nvSpPr>
          <p:cNvPr id="3" name="Text 1"/>
          <p:cNvSpPr/>
          <p:nvPr/>
        </p:nvSpPr>
        <p:spPr>
          <a:xfrm>
            <a:off x="755730" y="770830"/>
            <a:ext cx="1252308" cy="144562"/>
          </a:xfrm>
          <a:prstGeom prst="rect">
            <a:avLst/>
          </a:prstGeom>
          <a:noFill/>
          <a:ln/>
        </p:spPr>
        <p:txBody>
          <a:bodyPr wrap="none" lIns="0" tIns="0" rIns="0" bIns="0" rtlCol="0" anchor="t"/>
          <a:lstStyle/>
          <a:p>
            <a:pPr algn="l" indent="0" marL="0">
              <a:lnSpc>
                <a:spcPct val="96000"/>
              </a:lnSpc>
              <a:buNone/>
            </a:pPr>
            <a:r>
              <a:rPr lang="en-US" sz="950" dirty="0">
                <a:solidFill>
                  <a:srgbClr val="A034FE"/>
                </a:solidFill>
                <a:latin typeface="Heebo" pitchFamily="34" charset="0"/>
                <a:ea typeface="Heebo" pitchFamily="34" charset="-122"/>
                <a:cs typeface="Heebo" pitchFamily="34" charset="-120"/>
              </a:rPr>
              <a:t>CONTEXTO</a:t>
            </a:r>
            <a:endParaRPr lang="en-US" sz="950" dirty="0"/>
          </a:p>
        </p:txBody>
      </p:sp>
      <p:sp>
        <p:nvSpPr>
          <p:cNvPr id="4" name="Text 2"/>
          <p:cNvSpPr/>
          <p:nvPr/>
        </p:nvSpPr>
        <p:spPr>
          <a:xfrm>
            <a:off x="661475" y="1022152"/>
            <a:ext cx="10868745" cy="490934"/>
          </a:xfrm>
          <a:prstGeom prst="rect">
            <a:avLst/>
          </a:prstGeom>
          <a:noFill/>
          <a:ln/>
        </p:spPr>
        <p:txBody>
          <a:bodyPr wrap="none" lIns="0" tIns="0" rIns="0" bIns="0" rtlCol="0" anchor="t"/>
          <a:lstStyle/>
          <a:p>
            <a:pPr algn="l" indent="0" marL="0">
              <a:lnSpc>
                <a:spcPct val="104000"/>
              </a:lnSpc>
              <a:buNone/>
            </a:pPr>
            <a:r>
              <a:rPr lang="en-US" sz="3050" dirty="0">
                <a:solidFill>
                  <a:srgbClr val="3F1464"/>
                </a:solidFill>
                <a:latin typeface="Crimson Pro SemiBold" pitchFamily="34" charset="0"/>
                <a:ea typeface="Crimson Pro SemiBold" pitchFamily="34" charset="-122"/>
                <a:cs typeface="Crimson Pro SemiBold" pitchFamily="34" charset="-120"/>
              </a:rPr>
              <a:t>Objetivo del Negocio</a:t>
            </a:r>
            <a:endParaRPr lang="en-US" sz="3050" dirty="0"/>
          </a:p>
        </p:txBody>
      </p:sp>
      <p:sp>
        <p:nvSpPr>
          <p:cNvPr id="5" name="Text 3"/>
          <p:cNvSpPr/>
          <p:nvPr/>
        </p:nvSpPr>
        <p:spPr>
          <a:xfrm>
            <a:off x="661475" y="1871266"/>
            <a:ext cx="5805243" cy="1850529"/>
          </a:xfrm>
          <a:prstGeom prst="rect">
            <a:avLst/>
          </a:prstGeom>
          <a:noFill/>
          <a:ln/>
        </p:spPr>
        <p:txBody>
          <a:bodyPr wrap="square" lIns="0" tIns="0" rIns="0" bIns="0" rtlCol="0" anchor="t">
            <a:normAutofit/>
          </a:bodyPr>
          <a:lstStyle/>
          <a:p>
            <a:pPr algn="l" indent="0" marL="0">
              <a:lnSpc>
                <a:spcPct val="130000"/>
              </a:lnSpc>
              <a:spcAft>
                <a:spcPts val="1050"/>
              </a:spcAft>
              <a:buNone/>
            </a:pPr>
            <a:r>
              <a:rPr lang="en-US" sz="1200" dirty="0">
                <a:solidFill>
                  <a:srgbClr val="4C4C4D"/>
                </a:solidFill>
                <a:latin typeface="Heebo" pitchFamily="34" charset="0"/>
                <a:ea typeface="Heebo" pitchFamily="34" charset="-122"/>
                <a:cs typeface="Heebo" pitchFamily="34" charset="-120"/>
              </a:rPr>
              <a:t>La empresa obtiene ingresos mediante una </a:t>
            </a:r>
            <a:pPr algn="l" indent="0" marL="0">
              <a:lnSpc>
                <a:spcPct val="130000"/>
              </a:lnSpc>
              <a:spcAft>
                <a:spcPts val="1050"/>
              </a:spcAft>
              <a:buNone/>
            </a:pPr>
            <a:r>
              <a:rPr lang="en-US" sz="1200" b="1" dirty="0">
                <a:solidFill>
                  <a:srgbClr val="4C4C4D"/>
                </a:solidFill>
                <a:latin typeface="Heebo Bold" pitchFamily="34" charset="0"/>
                <a:ea typeface="Heebo Bold" pitchFamily="34" charset="-122"/>
                <a:cs typeface="Heebo Bold" pitchFamily="34" charset="-120"/>
              </a:rPr>
              <a:t>comisión del 5% por cada transacción</a:t>
            </a:r>
            <a:pPr algn="l" indent="0" marL="0">
              <a:lnSpc>
                <a:spcPct val="130000"/>
              </a:lnSpc>
              <a:spcAft>
                <a:spcPts val="1050"/>
              </a:spcAft>
              <a:buNone/>
            </a:pPr>
            <a:r>
              <a:rPr lang="en-US" sz="1200" dirty="0">
                <a:solidFill>
                  <a:srgbClr val="4C4C4D"/>
                </a:solidFill>
                <a:latin typeface="Heebo" pitchFamily="34" charset="0"/>
                <a:ea typeface="Heebo" pitchFamily="34" charset="-122"/>
                <a:cs typeface="Heebo" pitchFamily="34" charset="-120"/>
              </a:rPr>
              <a:t> procesada a través de su API de pagos. En consecuencia, incrementar el volumen transaccional de los comercios activos impacta directamente el</a:t>
            </a:r>
            <a:pPr algn="l" indent="0" marL="0">
              <a:lnSpc>
                <a:spcPct val="130000"/>
              </a:lnSpc>
              <a:spcAft>
                <a:spcPts val="1050"/>
              </a:spcAft>
              <a:buNone/>
            </a:pPr>
            <a:r>
              <a:rPr lang="en-US" sz="1200" b="1" dirty="0">
                <a:solidFill>
                  <a:srgbClr val="4C4C4D"/>
                </a:solidFill>
                <a:latin typeface="Heebo Bold" pitchFamily="34" charset="0"/>
                <a:ea typeface="Heebo Bold" pitchFamily="34" charset="-122"/>
                <a:cs typeface="Heebo Bold" pitchFamily="34" charset="-120"/>
              </a:rPr>
              <a:t> crecimiento de las comisiones</a:t>
            </a:r>
            <a:pPr algn="l" indent="0" marL="0">
              <a:lnSpc>
                <a:spcPct val="130000"/>
              </a:lnSpc>
              <a:spcAft>
                <a:spcPts val="1050"/>
              </a:spcAft>
              <a:buNone/>
            </a:pPr>
            <a:r>
              <a:rPr lang="en-US" sz="1200" dirty="0">
                <a:solidFill>
                  <a:srgbClr val="4C4C4D"/>
                </a:solidFill>
                <a:latin typeface="Heebo" pitchFamily="34" charset="0"/>
                <a:ea typeface="Heebo" pitchFamily="34" charset="-122"/>
                <a:cs typeface="Heebo" pitchFamily="34" charset="-120"/>
              </a:rPr>
              <a:t>.</a:t>
            </a:r>
            <a:endParaRPr lang="en-US" sz="1200" dirty="0"/>
          </a:p>
          <a:p>
            <a:pPr algn="l" indent="0" marL="0">
              <a:lnSpc>
                <a:spcPct val="130000"/>
              </a:lnSpc>
              <a:buNone/>
            </a:pPr>
            <a:r>
              <a:rPr lang="en-US" sz="1200" dirty="0">
                <a:solidFill>
                  <a:srgbClr val="4C4C4D"/>
                </a:solidFill>
                <a:latin typeface="Heebo" pitchFamily="34" charset="0"/>
                <a:ea typeface="Heebo" pitchFamily="34" charset="-122"/>
                <a:cs typeface="Heebo" pitchFamily="34" charset="-120"/>
              </a:rPr>
              <a:t>El reto planteado consiste en </a:t>
            </a:r>
            <a:pPr algn="l" indent="0" marL="0">
              <a:lnSpc>
                <a:spcPct val="130000"/>
              </a:lnSpc>
              <a:buNone/>
            </a:pPr>
            <a:r>
              <a:rPr lang="en-US" sz="1200" b="1" dirty="0">
                <a:solidFill>
                  <a:srgbClr val="4C4C4D"/>
                </a:solidFill>
                <a:latin typeface="Heebo Bold" pitchFamily="34" charset="0"/>
                <a:ea typeface="Heebo Bold" pitchFamily="34" charset="-122"/>
                <a:cs typeface="Heebo Bold" pitchFamily="34" charset="-120"/>
              </a:rPr>
              <a:t>identificar los comercios con mayor potencial</a:t>
            </a:r>
            <a:pPr algn="l" indent="0" marL="0">
              <a:lnSpc>
                <a:spcPct val="130000"/>
              </a:lnSpc>
              <a:buNone/>
            </a:pPr>
            <a:r>
              <a:rPr lang="en-US" sz="1200" dirty="0">
                <a:solidFill>
                  <a:srgbClr val="4C4C4D"/>
                </a:solidFill>
                <a:latin typeface="Heebo" pitchFamily="34" charset="0"/>
                <a:ea typeface="Heebo" pitchFamily="34" charset="-122"/>
                <a:cs typeface="Heebo" pitchFamily="34" charset="-120"/>
              </a:rPr>
              <a:t> </a:t>
            </a:r>
            <a:pPr algn="l" indent="0" marL="0">
              <a:lnSpc>
                <a:spcPct val="130000"/>
              </a:lnSpc>
              <a:buNone/>
            </a:pPr>
            <a:r>
              <a:rPr lang="en-US" sz="1200" b="1" dirty="0">
                <a:solidFill>
                  <a:srgbClr val="4C4C4D"/>
                </a:solidFill>
                <a:latin typeface="Heebo Bold" pitchFamily="34" charset="0"/>
                <a:ea typeface="Heebo Bold" pitchFamily="34" charset="-122"/>
                <a:cs typeface="Heebo Bold" pitchFamily="34" charset="-120"/>
              </a:rPr>
              <a:t>de crecimiento </a:t>
            </a:r>
            <a:pPr algn="l" indent="0" marL="0">
              <a:lnSpc>
                <a:spcPct val="130000"/>
              </a:lnSpc>
              <a:buNone/>
            </a:pPr>
            <a:r>
              <a:rPr lang="en-US" sz="1200" dirty="0">
                <a:solidFill>
                  <a:srgbClr val="4C4C4D"/>
                </a:solidFill>
                <a:latin typeface="Heebo" pitchFamily="34" charset="0"/>
                <a:ea typeface="Heebo" pitchFamily="34" charset="-122"/>
                <a:cs typeface="Heebo" pitchFamily="34" charset="-120"/>
              </a:rPr>
              <a:t>para orientar campañas de marketing más efectivas y aumentar el uso de la APP.</a:t>
            </a:r>
            <a:endParaRPr lang="en-US" sz="1200" dirty="0"/>
          </a:p>
        </p:txBody>
      </p:sp>
      <p:sp>
        <p:nvSpPr>
          <p:cNvPr id="6" name="Shape 4"/>
          <p:cNvSpPr/>
          <p:nvPr/>
        </p:nvSpPr>
        <p:spPr>
          <a:xfrm>
            <a:off x="661475" y="3889673"/>
            <a:ext cx="5805243" cy="1082576"/>
          </a:xfrm>
          <a:prstGeom prst="roundRect">
            <a:avLst>
              <a:gd name="adj" fmla="val 2177"/>
            </a:avLst>
          </a:prstGeom>
          <a:solidFill>
            <a:srgbClr val="E7CCFF"/>
          </a:solidFill>
          <a:ln/>
        </p:spPr>
      </p:sp>
      <p:pic>
        <p:nvPicPr>
          <p:cNvPr id="7" name="Image 0" descr="preencoded.png">    </p:cNvPr>
          <p:cNvPicPr>
            <a:picLocks noChangeAspect="1"/>
          </p:cNvPicPr>
          <p:nvPr/>
        </p:nvPicPr>
        <p:blipFill>
          <a:blip r:embed="rId1"/>
          <a:stretch>
            <a:fillRect/>
          </a:stretch>
        </p:blipFill>
        <p:spPr>
          <a:xfrm>
            <a:off x="818534" y="4119860"/>
            <a:ext cx="196349" cy="157063"/>
          </a:xfrm>
          <a:prstGeom prst="rect">
            <a:avLst/>
          </a:prstGeom>
        </p:spPr>
      </p:pic>
      <p:sp>
        <p:nvSpPr>
          <p:cNvPr id="8" name="Text 5"/>
          <p:cNvSpPr/>
          <p:nvPr/>
        </p:nvSpPr>
        <p:spPr>
          <a:xfrm>
            <a:off x="1171943" y="4063206"/>
            <a:ext cx="5137716" cy="735509"/>
          </a:xfrm>
          <a:prstGeom prst="rect">
            <a:avLst/>
          </a:prstGeom>
          <a:noFill/>
          <a:ln/>
        </p:spPr>
        <p:txBody>
          <a:bodyPr wrap="square" lIns="0" tIns="0" rIns="0" bIns="0" rtlCol="0" anchor="t">
            <a:normAutofit/>
          </a:bodyPr>
          <a:lstStyle/>
          <a:p>
            <a:pPr algn="l" indent="0" marL="0">
              <a:lnSpc>
                <a:spcPct val="130000"/>
              </a:lnSpc>
              <a:buNone/>
            </a:pPr>
            <a:r>
              <a:rPr lang="en-US" sz="1200" b="1" dirty="0">
                <a:solidFill>
                  <a:srgbClr val="000000"/>
                </a:solidFill>
                <a:latin typeface="Heebo Bold" pitchFamily="34" charset="0"/>
                <a:ea typeface="Heebo Bold" pitchFamily="34" charset="-122"/>
                <a:cs typeface="Heebo Bold" pitchFamily="34" charset="-120"/>
              </a:rPr>
              <a:t>Solución propuesta:</a:t>
            </a:r>
            <a:pPr algn="l" indent="0" marL="0">
              <a:lnSpc>
                <a:spcPct val="130000"/>
              </a:lnSpc>
              <a:buNone/>
            </a:pPr>
            <a:r>
              <a:rPr lang="en-US" sz="1200" dirty="0">
                <a:solidFill>
                  <a:srgbClr val="000000"/>
                </a:solidFill>
                <a:latin typeface="Heebo" pitchFamily="34" charset="0"/>
                <a:ea typeface="Heebo" pitchFamily="34" charset="-122"/>
                <a:cs typeface="Heebo" pitchFamily="34" charset="-120"/>
              </a:rPr>
              <a:t> Construcción de un Business Score para clasificar los comercios según su comportamiento transaccional y segmentarlos en grupos que faciliten la toma de decisiones comerciales.</a:t>
            </a:r>
            <a:endParaRPr lang="en-US" sz="1200" dirty="0"/>
          </a:p>
        </p:txBody>
      </p:sp>
      <p:sp>
        <p:nvSpPr>
          <p:cNvPr id="9" name="Text 6"/>
          <p:cNvSpPr/>
          <p:nvPr/>
        </p:nvSpPr>
        <p:spPr>
          <a:xfrm>
            <a:off x="661475" y="5140127"/>
            <a:ext cx="5805243" cy="392113"/>
          </a:xfrm>
          <a:prstGeom prst="rect">
            <a:avLst/>
          </a:prstGeom>
          <a:noFill/>
          <a:ln/>
        </p:spPr>
        <p:txBody>
          <a:bodyPr wrap="square" lIns="0" tIns="0" rIns="0" bIns="0" rtlCol="0" anchor="t">
            <a:normAutofit/>
          </a:bodyPr>
          <a:lstStyle/>
          <a:p>
            <a:pPr algn="l" indent="0" marL="0">
              <a:lnSpc>
                <a:spcPct val="130000"/>
              </a:lnSpc>
              <a:buNone/>
            </a:pPr>
            <a:r>
              <a:rPr lang="en-US" sz="950" dirty="0">
                <a:solidFill>
                  <a:srgbClr val="4C4C4D"/>
                </a:solidFill>
                <a:latin typeface="Heebo" pitchFamily="34" charset="0"/>
                <a:ea typeface="Heebo" pitchFamily="34" charset="-122"/>
                <a:cs typeface="Heebo" pitchFamily="34" charset="-120"/>
              </a:rPr>
              <a:t>* Este enfoque permite priorizar esfuerzos comerciales con base en datos y no únicamente por volumen de clientes.</a:t>
            </a:r>
            <a:endParaRPr lang="en-US" sz="950" dirty="0"/>
          </a:p>
        </p:txBody>
      </p:sp>
      <p:pic>
        <p:nvPicPr>
          <p:cNvPr id="10" name="Image 1" descr="preencoded.png">    </p:cNvPr>
          <p:cNvPicPr>
            <a:picLocks noChangeAspect="1"/>
          </p:cNvPicPr>
          <p:nvPr/>
        </p:nvPicPr>
        <p:blipFill>
          <a:blip r:embed="rId2"/>
          <a:stretch>
            <a:fillRect/>
          </a:stretch>
        </p:blipFill>
        <p:spPr>
          <a:xfrm>
            <a:off x="6856439" y="1904802"/>
            <a:ext cx="785594" cy="954088"/>
          </a:xfrm>
          <a:prstGeom prst="rect">
            <a:avLst/>
          </a:prstGeom>
        </p:spPr>
      </p:pic>
      <p:sp>
        <p:nvSpPr>
          <p:cNvPr id="11" name="Text 7"/>
          <p:cNvSpPr/>
          <p:nvPr/>
        </p:nvSpPr>
        <p:spPr>
          <a:xfrm>
            <a:off x="7791255" y="2061865"/>
            <a:ext cx="3745216" cy="245566"/>
          </a:xfrm>
          <a:prstGeom prst="rect">
            <a:avLst/>
          </a:prstGeom>
          <a:noFill/>
          <a:ln/>
        </p:spPr>
        <p:txBody>
          <a:bodyPr wrap="none" lIns="0" tIns="0" rIns="0" bIns="0" rtlCol="0" anchor="t"/>
          <a:lstStyle/>
          <a:p>
            <a:pPr algn="l" indent="0" marL="0">
              <a:lnSpc>
                <a:spcPct val="104000"/>
              </a:lnSpc>
              <a:buNone/>
            </a:pPr>
            <a:r>
              <a:rPr lang="en-US" sz="1500" dirty="0">
                <a:solidFill>
                  <a:srgbClr val="4C4C4D"/>
                </a:solidFill>
                <a:latin typeface="Crimson Pro SemiBold" pitchFamily="34" charset="0"/>
                <a:ea typeface="Crimson Pro SemiBold" pitchFamily="34" charset="-122"/>
                <a:cs typeface="Crimson Pro SemiBold" pitchFamily="34" charset="-120"/>
              </a:rPr>
              <a:t>Comercios y transacciones</a:t>
            </a:r>
            <a:endParaRPr lang="en-US" sz="1500" dirty="0"/>
          </a:p>
        </p:txBody>
      </p:sp>
      <p:sp>
        <p:nvSpPr>
          <p:cNvPr id="12" name="Text 8"/>
          <p:cNvSpPr/>
          <p:nvPr/>
        </p:nvSpPr>
        <p:spPr>
          <a:xfrm>
            <a:off x="7791255" y="2456656"/>
            <a:ext cx="3745216" cy="245170"/>
          </a:xfrm>
          <a:prstGeom prst="rect">
            <a:avLst/>
          </a:prstGeom>
          <a:noFill/>
          <a:ln/>
        </p:spPr>
        <p:txBody>
          <a:bodyPr wrap="none" lIns="0" tIns="0" rIns="0" bIns="0" rtlCol="0" anchor="t"/>
          <a:lstStyle/>
          <a:p>
            <a:pPr algn="l" indent="0" marL="0">
              <a:lnSpc>
                <a:spcPct val="130000"/>
              </a:lnSpc>
              <a:buNone/>
            </a:pPr>
            <a:r>
              <a:rPr lang="en-US" sz="1200" dirty="0">
                <a:solidFill>
                  <a:srgbClr val="4C4C4D"/>
                </a:solidFill>
                <a:latin typeface="Heebo" pitchFamily="34" charset="0"/>
                <a:ea typeface="Heebo" pitchFamily="34" charset="-122"/>
                <a:cs typeface="Heebo" pitchFamily="34" charset="-120"/>
              </a:rPr>
              <a:t>Información histórica de los últimos 6 meses</a:t>
            </a:r>
            <a:endParaRPr lang="en-US" sz="1200" dirty="0"/>
          </a:p>
        </p:txBody>
      </p:sp>
      <p:pic>
        <p:nvPicPr>
          <p:cNvPr id="13" name="Image 2" descr="preencoded.png">    </p:cNvPr>
          <p:cNvPicPr>
            <a:picLocks noChangeAspect="1"/>
          </p:cNvPicPr>
          <p:nvPr/>
        </p:nvPicPr>
        <p:blipFill>
          <a:blip r:embed="rId3"/>
          <a:stretch>
            <a:fillRect/>
          </a:stretch>
        </p:blipFill>
        <p:spPr>
          <a:xfrm>
            <a:off x="6856439" y="2858889"/>
            <a:ext cx="785594" cy="954088"/>
          </a:xfrm>
          <a:prstGeom prst="rect">
            <a:avLst/>
          </a:prstGeom>
        </p:spPr>
      </p:pic>
      <p:sp>
        <p:nvSpPr>
          <p:cNvPr id="14" name="Text 9"/>
          <p:cNvSpPr/>
          <p:nvPr/>
        </p:nvSpPr>
        <p:spPr>
          <a:xfrm>
            <a:off x="7791255" y="3015952"/>
            <a:ext cx="3745216" cy="245566"/>
          </a:xfrm>
          <a:prstGeom prst="rect">
            <a:avLst/>
          </a:prstGeom>
          <a:noFill/>
          <a:ln/>
        </p:spPr>
        <p:txBody>
          <a:bodyPr wrap="none" lIns="0" tIns="0" rIns="0" bIns="0" rtlCol="0" anchor="t"/>
          <a:lstStyle/>
          <a:p>
            <a:pPr algn="l" indent="0" marL="0">
              <a:lnSpc>
                <a:spcPct val="104000"/>
              </a:lnSpc>
              <a:buNone/>
            </a:pPr>
            <a:r>
              <a:rPr lang="en-US" sz="1500" dirty="0">
                <a:solidFill>
                  <a:srgbClr val="4C4C4D"/>
                </a:solidFill>
                <a:latin typeface="Crimson Pro SemiBold" pitchFamily="34" charset="0"/>
                <a:ea typeface="Crimson Pro SemiBold" pitchFamily="34" charset="-122"/>
                <a:cs typeface="Crimson Pro SemiBold" pitchFamily="34" charset="-120"/>
              </a:rPr>
              <a:t>Business Score</a:t>
            </a:r>
            <a:endParaRPr lang="en-US" sz="1500" dirty="0"/>
          </a:p>
        </p:txBody>
      </p:sp>
      <p:sp>
        <p:nvSpPr>
          <p:cNvPr id="15" name="Text 10"/>
          <p:cNvSpPr/>
          <p:nvPr/>
        </p:nvSpPr>
        <p:spPr>
          <a:xfrm>
            <a:off x="7791255" y="3410744"/>
            <a:ext cx="3745216" cy="245170"/>
          </a:xfrm>
          <a:prstGeom prst="rect">
            <a:avLst/>
          </a:prstGeom>
          <a:noFill/>
          <a:ln/>
        </p:spPr>
        <p:txBody>
          <a:bodyPr wrap="none" lIns="0" tIns="0" rIns="0" bIns="0" rtlCol="0" anchor="t"/>
          <a:lstStyle/>
          <a:p>
            <a:pPr algn="l" indent="0" marL="0">
              <a:lnSpc>
                <a:spcPct val="130000"/>
              </a:lnSpc>
              <a:buNone/>
            </a:pPr>
            <a:r>
              <a:rPr lang="en-US" sz="1200" dirty="0">
                <a:solidFill>
                  <a:srgbClr val="4C4C4D"/>
                </a:solidFill>
                <a:latin typeface="Heebo" pitchFamily="34" charset="0"/>
                <a:ea typeface="Heebo" pitchFamily="34" charset="-122"/>
                <a:cs typeface="Heebo" pitchFamily="34" charset="-120"/>
              </a:rPr>
              <a:t>Medición del comportamiento de cada comercio</a:t>
            </a:r>
            <a:endParaRPr lang="en-US" sz="1200" dirty="0"/>
          </a:p>
        </p:txBody>
      </p:sp>
      <p:pic>
        <p:nvPicPr>
          <p:cNvPr id="16" name="Image 3" descr="preencoded.png">    </p:cNvPr>
          <p:cNvPicPr>
            <a:picLocks noChangeAspect="1"/>
          </p:cNvPicPr>
          <p:nvPr/>
        </p:nvPicPr>
        <p:blipFill>
          <a:blip r:embed="rId4"/>
          <a:stretch>
            <a:fillRect/>
          </a:stretch>
        </p:blipFill>
        <p:spPr>
          <a:xfrm>
            <a:off x="6856439" y="3812977"/>
            <a:ext cx="785594" cy="954088"/>
          </a:xfrm>
          <a:prstGeom prst="rect">
            <a:avLst/>
          </a:prstGeom>
        </p:spPr>
      </p:pic>
      <p:sp>
        <p:nvSpPr>
          <p:cNvPr id="17" name="Text 11"/>
          <p:cNvSpPr/>
          <p:nvPr/>
        </p:nvSpPr>
        <p:spPr>
          <a:xfrm>
            <a:off x="7791255" y="3970040"/>
            <a:ext cx="3745216" cy="245566"/>
          </a:xfrm>
          <a:prstGeom prst="rect">
            <a:avLst/>
          </a:prstGeom>
          <a:noFill/>
          <a:ln/>
        </p:spPr>
        <p:txBody>
          <a:bodyPr wrap="none" lIns="0" tIns="0" rIns="0" bIns="0" rtlCol="0" anchor="t"/>
          <a:lstStyle/>
          <a:p>
            <a:pPr algn="l" indent="0" marL="0">
              <a:lnSpc>
                <a:spcPct val="104000"/>
              </a:lnSpc>
              <a:buNone/>
            </a:pPr>
            <a:r>
              <a:rPr lang="en-US" sz="1500" dirty="0">
                <a:solidFill>
                  <a:srgbClr val="4C4C4D"/>
                </a:solidFill>
                <a:latin typeface="Crimson Pro SemiBold" pitchFamily="34" charset="0"/>
                <a:ea typeface="Crimson Pro SemiBold" pitchFamily="34" charset="-122"/>
                <a:cs typeface="Crimson Pro SemiBold" pitchFamily="34" charset="-120"/>
              </a:rPr>
              <a:t>Segmentación</a:t>
            </a:r>
            <a:endParaRPr lang="en-US" sz="1500" dirty="0"/>
          </a:p>
        </p:txBody>
      </p:sp>
      <p:sp>
        <p:nvSpPr>
          <p:cNvPr id="18" name="Text 12"/>
          <p:cNvSpPr/>
          <p:nvPr/>
        </p:nvSpPr>
        <p:spPr>
          <a:xfrm>
            <a:off x="7791255" y="4364831"/>
            <a:ext cx="3745216" cy="245170"/>
          </a:xfrm>
          <a:prstGeom prst="rect">
            <a:avLst/>
          </a:prstGeom>
          <a:noFill/>
          <a:ln/>
        </p:spPr>
        <p:txBody>
          <a:bodyPr wrap="none" lIns="0" tIns="0" rIns="0" bIns="0" rtlCol="0" anchor="t"/>
          <a:lstStyle/>
          <a:p>
            <a:pPr algn="l" indent="0" marL="0">
              <a:lnSpc>
                <a:spcPct val="130000"/>
              </a:lnSpc>
              <a:buNone/>
            </a:pPr>
            <a:r>
              <a:rPr lang="en-US" sz="1200" dirty="0">
                <a:solidFill>
                  <a:srgbClr val="4C4C4D"/>
                </a:solidFill>
                <a:latin typeface="Heebo" pitchFamily="34" charset="0"/>
                <a:ea typeface="Heebo" pitchFamily="34" charset="-122"/>
                <a:cs typeface="Heebo" pitchFamily="34" charset="-120"/>
              </a:rPr>
              <a:t>Clasificación en cuatro grupos según su desempeño</a:t>
            </a:r>
            <a:endParaRPr lang="en-US" sz="1200" dirty="0"/>
          </a:p>
        </p:txBody>
      </p:sp>
      <p:pic>
        <p:nvPicPr>
          <p:cNvPr id="19" name="Image 4" descr="preencoded.png">    </p:cNvPr>
          <p:cNvPicPr>
            <a:picLocks noChangeAspect="1"/>
          </p:cNvPicPr>
          <p:nvPr/>
        </p:nvPicPr>
        <p:blipFill>
          <a:blip r:embed="rId5"/>
          <a:stretch>
            <a:fillRect/>
          </a:stretch>
        </p:blipFill>
        <p:spPr>
          <a:xfrm>
            <a:off x="6856439" y="4767064"/>
            <a:ext cx="785594" cy="1199257"/>
          </a:xfrm>
          <a:prstGeom prst="rect">
            <a:avLst/>
          </a:prstGeom>
        </p:spPr>
      </p:pic>
      <p:sp>
        <p:nvSpPr>
          <p:cNvPr id="20" name="Text 13"/>
          <p:cNvSpPr/>
          <p:nvPr/>
        </p:nvSpPr>
        <p:spPr>
          <a:xfrm>
            <a:off x="7791255" y="4924127"/>
            <a:ext cx="3745216" cy="245566"/>
          </a:xfrm>
          <a:prstGeom prst="rect">
            <a:avLst/>
          </a:prstGeom>
          <a:noFill/>
          <a:ln/>
        </p:spPr>
        <p:txBody>
          <a:bodyPr wrap="none" lIns="0" tIns="0" rIns="0" bIns="0" rtlCol="0" anchor="t"/>
          <a:lstStyle/>
          <a:p>
            <a:pPr algn="l" indent="0" marL="0">
              <a:lnSpc>
                <a:spcPct val="104000"/>
              </a:lnSpc>
              <a:buNone/>
            </a:pPr>
            <a:r>
              <a:rPr lang="en-US" sz="1500" dirty="0">
                <a:solidFill>
                  <a:srgbClr val="4C4C4D"/>
                </a:solidFill>
                <a:latin typeface="Crimson Pro SemiBold" pitchFamily="34" charset="0"/>
                <a:ea typeface="Crimson Pro SemiBold" pitchFamily="34" charset="-122"/>
                <a:cs typeface="Crimson Pro SemiBold" pitchFamily="34" charset="-120"/>
              </a:rPr>
              <a:t>Acciones de negocio</a:t>
            </a:r>
            <a:endParaRPr lang="en-US" sz="1500" dirty="0"/>
          </a:p>
        </p:txBody>
      </p:sp>
      <p:sp>
        <p:nvSpPr>
          <p:cNvPr id="21" name="Text 14"/>
          <p:cNvSpPr/>
          <p:nvPr/>
        </p:nvSpPr>
        <p:spPr>
          <a:xfrm>
            <a:off x="7791255" y="5318919"/>
            <a:ext cx="3745216"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4C4C4D"/>
                </a:solidFill>
                <a:latin typeface="Heebo" pitchFamily="34" charset="0"/>
                <a:ea typeface="Heebo" pitchFamily="34" charset="-122"/>
                <a:cs typeface="Heebo" pitchFamily="34" charset="-120"/>
              </a:rPr>
              <a:t>Priorización de campañas para incrementar las comisiones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732730"/>
            <a:ext cx="885505" cy="201116"/>
          </a:xfrm>
          <a:prstGeom prst="roundRect">
            <a:avLst>
              <a:gd name="adj" fmla="val 7895"/>
            </a:avLst>
          </a:prstGeom>
          <a:noFill/>
          <a:ln w="6350">
            <a:solidFill>
              <a:srgbClr val="A034FE"/>
            </a:solidFill>
            <a:prstDash val="solid"/>
          </a:ln>
        </p:spPr>
      </p:sp>
      <p:sp>
        <p:nvSpPr>
          <p:cNvPr id="3" name="Text 1"/>
          <p:cNvSpPr/>
          <p:nvPr/>
        </p:nvSpPr>
        <p:spPr>
          <a:xfrm>
            <a:off x="740848" y="772418"/>
            <a:ext cx="1336344" cy="121741"/>
          </a:xfrm>
          <a:prstGeom prst="rect">
            <a:avLst/>
          </a:prstGeom>
          <a:noFill/>
          <a:ln/>
        </p:spPr>
        <p:txBody>
          <a:bodyPr wrap="none" lIns="0" tIns="0" rIns="0" bIns="0" rtlCol="0" anchor="t"/>
          <a:lstStyle/>
          <a:p>
            <a:pPr algn="l" indent="0" marL="0">
              <a:lnSpc>
                <a:spcPct val="96000"/>
              </a:lnSpc>
              <a:buNone/>
            </a:pPr>
            <a:r>
              <a:rPr lang="en-US" sz="800" dirty="0">
                <a:solidFill>
                  <a:srgbClr val="A034FE"/>
                </a:solidFill>
                <a:latin typeface="Heebo" pitchFamily="34" charset="0"/>
                <a:ea typeface="Heebo" pitchFamily="34" charset="-122"/>
                <a:cs typeface="Heebo" pitchFamily="34" charset="-120"/>
              </a:rPr>
              <a:t>METODOLOGÍA</a:t>
            </a:r>
            <a:endParaRPr lang="en-US" sz="800" dirty="0"/>
          </a:p>
        </p:txBody>
      </p:sp>
      <p:sp>
        <p:nvSpPr>
          <p:cNvPr id="4" name="Text 2"/>
          <p:cNvSpPr/>
          <p:nvPr/>
        </p:nvSpPr>
        <p:spPr>
          <a:xfrm>
            <a:off x="661475" y="976114"/>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3F1464"/>
                </a:solidFill>
                <a:latin typeface="Crimson Pro SemiBold" pitchFamily="34" charset="0"/>
                <a:ea typeface="Crimson Pro SemiBold" pitchFamily="34" charset="-122"/>
                <a:cs typeface="Crimson Pro SemiBold" pitchFamily="34" charset="-120"/>
              </a:rPr>
              <a:t>Construcción del Business Score</a:t>
            </a:r>
            <a:endParaRPr lang="en-US" sz="2600" dirty="0"/>
          </a:p>
        </p:txBody>
      </p:sp>
      <p:sp>
        <p:nvSpPr>
          <p:cNvPr id="5" name="Text 3"/>
          <p:cNvSpPr/>
          <p:nvPr/>
        </p:nvSpPr>
        <p:spPr>
          <a:xfrm>
            <a:off x="661475" y="1654076"/>
            <a:ext cx="5273047" cy="206673"/>
          </a:xfrm>
          <a:prstGeom prst="rect">
            <a:avLst/>
          </a:prstGeom>
          <a:noFill/>
          <a:ln/>
        </p:spPr>
        <p:txBody>
          <a:bodyPr wrap="none" lIns="0" tIns="0" rIns="0" bIns="0" rtlCol="0" anchor="t"/>
          <a:lstStyle/>
          <a:p>
            <a:pPr algn="l" indent="0" marL="0">
              <a:lnSpc>
                <a:spcPct val="104000"/>
              </a:lnSpc>
              <a:buNone/>
            </a:pPr>
            <a:r>
              <a:rPr lang="en-US" sz="1300" dirty="0">
                <a:solidFill>
                  <a:srgbClr val="3F1464"/>
                </a:solidFill>
                <a:latin typeface="Crimson Pro SemiBold" pitchFamily="34" charset="0"/>
                <a:ea typeface="Crimson Pro SemiBold" pitchFamily="34" charset="-122"/>
                <a:cs typeface="Crimson Pro SemiBold" pitchFamily="34" charset="-120"/>
              </a:rPr>
              <a:t>Variables utilizadas para construir el Business Score</a:t>
            </a:r>
            <a:endParaRPr lang="en-US" sz="1300" dirty="0"/>
          </a:p>
        </p:txBody>
      </p:sp>
      <p:sp>
        <p:nvSpPr>
          <p:cNvPr id="6" name="Text 4"/>
          <p:cNvSpPr/>
          <p:nvPr/>
        </p:nvSpPr>
        <p:spPr>
          <a:xfrm>
            <a:off x="661475" y="1966516"/>
            <a:ext cx="5273047"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4C4C4D"/>
                </a:solidFill>
                <a:latin typeface="Heebo" pitchFamily="34" charset="0"/>
                <a:ea typeface="Heebo" pitchFamily="34" charset="-122"/>
                <a:cs typeface="Heebo" pitchFamily="34" charset="-120"/>
              </a:rPr>
              <a:t>El Business Score resume el comportamiento transaccional de cada comercio en un único indicador, permitiendo compararlos bajo los mismos criterios.</a:t>
            </a:r>
            <a:endParaRPr lang="en-US" sz="1000" dirty="0"/>
          </a:p>
        </p:txBody>
      </p:sp>
      <p:sp>
        <p:nvSpPr>
          <p:cNvPr id="7" name="Shape 5"/>
          <p:cNvSpPr/>
          <p:nvPr/>
        </p:nvSpPr>
        <p:spPr>
          <a:xfrm>
            <a:off x="661475" y="2532658"/>
            <a:ext cx="3815758" cy="165298"/>
          </a:xfrm>
          <a:prstGeom prst="roundRect">
            <a:avLst>
              <a:gd name="adj" fmla="val 12007"/>
            </a:avLst>
          </a:prstGeom>
          <a:solidFill>
            <a:srgbClr val="F2EEEE"/>
          </a:solidFill>
          <a:ln/>
        </p:spPr>
      </p:sp>
      <p:sp>
        <p:nvSpPr>
          <p:cNvPr id="8" name="Shape 6"/>
          <p:cNvSpPr/>
          <p:nvPr/>
        </p:nvSpPr>
        <p:spPr>
          <a:xfrm>
            <a:off x="661475" y="2532658"/>
            <a:ext cx="1907830" cy="165298"/>
          </a:xfrm>
          <a:prstGeom prst="roundRect">
            <a:avLst>
              <a:gd name="adj" fmla="val 12007"/>
            </a:avLst>
          </a:prstGeom>
          <a:solidFill>
            <a:srgbClr val="A034FE"/>
          </a:solidFill>
          <a:ln/>
        </p:spPr>
      </p:sp>
      <p:sp>
        <p:nvSpPr>
          <p:cNvPr id="9" name="Text 7"/>
          <p:cNvSpPr/>
          <p:nvPr/>
        </p:nvSpPr>
        <p:spPr>
          <a:xfrm>
            <a:off x="4576450" y="2532559"/>
            <a:ext cx="303403" cy="165398"/>
          </a:xfrm>
          <a:prstGeom prst="rect">
            <a:avLst/>
          </a:prstGeom>
          <a:noFill/>
          <a:ln/>
        </p:spPr>
        <p:txBody>
          <a:bodyPr wrap="none" lIns="0" tIns="0" rIns="0" bIns="0" rtlCol="0" anchor="t"/>
          <a:lstStyle/>
          <a:p>
            <a:pPr algn="l" indent="0" marL="0">
              <a:lnSpc>
                <a:spcPct val="83000"/>
              </a:lnSpc>
              <a:buNone/>
            </a:pPr>
            <a:r>
              <a:rPr lang="en-US" sz="1300" dirty="0">
                <a:solidFill>
                  <a:srgbClr val="4C4C4D"/>
                </a:solidFill>
                <a:latin typeface="Crimson Pro SemiBold" pitchFamily="34" charset="0"/>
                <a:ea typeface="Crimson Pro SemiBold" pitchFamily="34" charset="-122"/>
                <a:cs typeface="Crimson Pro SemiBold" pitchFamily="34" charset="-120"/>
              </a:rPr>
              <a:t>50%</a:t>
            </a:r>
            <a:endParaRPr lang="en-US" sz="1300" dirty="0"/>
          </a:p>
        </p:txBody>
      </p:sp>
      <p:sp>
        <p:nvSpPr>
          <p:cNvPr id="10" name="Text 8"/>
          <p:cNvSpPr/>
          <p:nvPr/>
        </p:nvSpPr>
        <p:spPr>
          <a:xfrm>
            <a:off x="661475" y="2843411"/>
            <a:ext cx="5273047"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Frecuencia de transacciones</a:t>
            </a:r>
            <a:endParaRPr lang="en-US" sz="1300" dirty="0"/>
          </a:p>
        </p:txBody>
      </p:sp>
      <p:sp>
        <p:nvSpPr>
          <p:cNvPr id="11" name="Text 9"/>
          <p:cNvSpPr/>
          <p:nvPr/>
        </p:nvSpPr>
        <p:spPr>
          <a:xfrm>
            <a:off x="661475" y="3155851"/>
            <a:ext cx="5273047" cy="190500"/>
          </a:xfrm>
          <a:prstGeom prst="rect">
            <a:avLst/>
          </a:prstGeom>
          <a:noFill/>
          <a:ln/>
        </p:spPr>
        <p:txBody>
          <a:bodyPr wrap="none" lIns="0" tIns="0" rIns="0" bIns="0" rtlCol="0" anchor="t"/>
          <a:lstStyle/>
          <a:p>
            <a:pPr algn="l" indent="0" marL="0">
              <a:lnSpc>
                <a:spcPct val="120000"/>
              </a:lnSpc>
              <a:buNone/>
            </a:pPr>
            <a:r>
              <a:rPr lang="en-US" sz="1000" dirty="0">
                <a:solidFill>
                  <a:srgbClr val="4C4C4D"/>
                </a:solidFill>
                <a:latin typeface="Heebo" pitchFamily="34" charset="0"/>
                <a:ea typeface="Heebo" pitchFamily="34" charset="-122"/>
                <a:cs typeface="Heebo" pitchFamily="34" charset="-120"/>
              </a:rPr>
              <a:t>Refleja la recurrencia con la que el comercio utiliza la plataforma</a:t>
            </a:r>
            <a:endParaRPr lang="en-US" sz="1000" dirty="0"/>
          </a:p>
        </p:txBody>
      </p:sp>
      <p:sp>
        <p:nvSpPr>
          <p:cNvPr id="12" name="Shape 10"/>
          <p:cNvSpPr/>
          <p:nvPr/>
        </p:nvSpPr>
        <p:spPr>
          <a:xfrm>
            <a:off x="661475" y="3624064"/>
            <a:ext cx="3815758" cy="165298"/>
          </a:xfrm>
          <a:prstGeom prst="roundRect">
            <a:avLst>
              <a:gd name="adj" fmla="val 12007"/>
            </a:avLst>
          </a:prstGeom>
          <a:solidFill>
            <a:srgbClr val="F2EEEE"/>
          </a:solidFill>
          <a:ln/>
        </p:spPr>
      </p:sp>
      <p:sp>
        <p:nvSpPr>
          <p:cNvPr id="13" name="Shape 11"/>
          <p:cNvSpPr/>
          <p:nvPr/>
        </p:nvSpPr>
        <p:spPr>
          <a:xfrm>
            <a:off x="661475" y="3624064"/>
            <a:ext cx="1144658" cy="165298"/>
          </a:xfrm>
          <a:prstGeom prst="roundRect">
            <a:avLst>
              <a:gd name="adj" fmla="val 12007"/>
            </a:avLst>
          </a:prstGeom>
          <a:solidFill>
            <a:srgbClr val="A034FE"/>
          </a:solidFill>
          <a:ln/>
        </p:spPr>
      </p:sp>
      <p:sp>
        <p:nvSpPr>
          <p:cNvPr id="14" name="Text 12"/>
          <p:cNvSpPr/>
          <p:nvPr/>
        </p:nvSpPr>
        <p:spPr>
          <a:xfrm>
            <a:off x="4576450" y="3623965"/>
            <a:ext cx="303403" cy="165398"/>
          </a:xfrm>
          <a:prstGeom prst="rect">
            <a:avLst/>
          </a:prstGeom>
          <a:noFill/>
          <a:ln/>
        </p:spPr>
        <p:txBody>
          <a:bodyPr wrap="none" lIns="0" tIns="0" rIns="0" bIns="0" rtlCol="0" anchor="t"/>
          <a:lstStyle/>
          <a:p>
            <a:pPr algn="l" indent="0" marL="0">
              <a:lnSpc>
                <a:spcPct val="83000"/>
              </a:lnSpc>
              <a:buNone/>
            </a:pPr>
            <a:r>
              <a:rPr lang="en-US" sz="1300" dirty="0">
                <a:solidFill>
                  <a:srgbClr val="4C4C4D"/>
                </a:solidFill>
                <a:latin typeface="Crimson Pro SemiBold" pitchFamily="34" charset="0"/>
                <a:ea typeface="Crimson Pro SemiBold" pitchFamily="34" charset="-122"/>
                <a:cs typeface="Crimson Pro SemiBold" pitchFamily="34" charset="-120"/>
              </a:rPr>
              <a:t>30%</a:t>
            </a:r>
            <a:endParaRPr lang="en-US" sz="1300" dirty="0"/>
          </a:p>
        </p:txBody>
      </p:sp>
      <p:sp>
        <p:nvSpPr>
          <p:cNvPr id="15" name="Text 13"/>
          <p:cNvSpPr/>
          <p:nvPr/>
        </p:nvSpPr>
        <p:spPr>
          <a:xfrm>
            <a:off x="661475" y="3934817"/>
            <a:ext cx="5273047"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Ventas acumuladas</a:t>
            </a:r>
            <a:endParaRPr lang="en-US" sz="1300" dirty="0"/>
          </a:p>
        </p:txBody>
      </p:sp>
      <p:sp>
        <p:nvSpPr>
          <p:cNvPr id="16" name="Text 14"/>
          <p:cNvSpPr/>
          <p:nvPr/>
        </p:nvSpPr>
        <p:spPr>
          <a:xfrm>
            <a:off x="661475" y="4247257"/>
            <a:ext cx="5273047" cy="190500"/>
          </a:xfrm>
          <a:prstGeom prst="rect">
            <a:avLst/>
          </a:prstGeom>
          <a:noFill/>
          <a:ln/>
        </p:spPr>
        <p:txBody>
          <a:bodyPr wrap="none" lIns="0" tIns="0" rIns="0" bIns="0" rtlCol="0" anchor="t"/>
          <a:lstStyle/>
          <a:p>
            <a:pPr algn="l" indent="0" marL="0">
              <a:lnSpc>
                <a:spcPct val="120000"/>
              </a:lnSpc>
              <a:buNone/>
            </a:pPr>
            <a:r>
              <a:rPr lang="en-US" sz="1000" dirty="0">
                <a:solidFill>
                  <a:srgbClr val="4C4C4D"/>
                </a:solidFill>
                <a:latin typeface="Heebo" pitchFamily="34" charset="0"/>
                <a:ea typeface="Heebo" pitchFamily="34" charset="-122"/>
                <a:cs typeface="Heebo" pitchFamily="34" charset="-120"/>
              </a:rPr>
              <a:t>Representa el volumen total transaccionado durante el período analizado</a:t>
            </a:r>
            <a:endParaRPr lang="en-US" sz="1000" dirty="0"/>
          </a:p>
        </p:txBody>
      </p:sp>
      <p:sp>
        <p:nvSpPr>
          <p:cNvPr id="17" name="Shape 15"/>
          <p:cNvSpPr/>
          <p:nvPr/>
        </p:nvSpPr>
        <p:spPr>
          <a:xfrm>
            <a:off x="661475" y="4715470"/>
            <a:ext cx="3813377" cy="165298"/>
          </a:xfrm>
          <a:prstGeom prst="roundRect">
            <a:avLst>
              <a:gd name="adj" fmla="val 12007"/>
            </a:avLst>
          </a:prstGeom>
          <a:solidFill>
            <a:srgbClr val="F2EEEE"/>
          </a:solidFill>
          <a:ln/>
        </p:spPr>
      </p:sp>
      <p:sp>
        <p:nvSpPr>
          <p:cNvPr id="18" name="Shape 16"/>
          <p:cNvSpPr/>
          <p:nvPr/>
        </p:nvSpPr>
        <p:spPr>
          <a:xfrm>
            <a:off x="661475" y="4715470"/>
            <a:ext cx="762675" cy="165298"/>
          </a:xfrm>
          <a:prstGeom prst="roundRect">
            <a:avLst>
              <a:gd name="adj" fmla="val 12007"/>
            </a:avLst>
          </a:prstGeom>
          <a:solidFill>
            <a:srgbClr val="A034FE"/>
          </a:solidFill>
          <a:ln/>
        </p:spPr>
      </p:sp>
      <p:sp>
        <p:nvSpPr>
          <p:cNvPr id="19" name="Text 17"/>
          <p:cNvSpPr/>
          <p:nvPr/>
        </p:nvSpPr>
        <p:spPr>
          <a:xfrm>
            <a:off x="4574068" y="4715371"/>
            <a:ext cx="305785" cy="165398"/>
          </a:xfrm>
          <a:prstGeom prst="rect">
            <a:avLst/>
          </a:prstGeom>
          <a:noFill/>
          <a:ln/>
        </p:spPr>
        <p:txBody>
          <a:bodyPr wrap="none" lIns="0" tIns="0" rIns="0" bIns="0" rtlCol="0" anchor="t"/>
          <a:lstStyle/>
          <a:p>
            <a:pPr algn="l" indent="0" marL="0">
              <a:lnSpc>
                <a:spcPct val="83000"/>
              </a:lnSpc>
              <a:buNone/>
            </a:pPr>
            <a:r>
              <a:rPr lang="en-US" sz="1300" dirty="0">
                <a:solidFill>
                  <a:srgbClr val="4C4C4D"/>
                </a:solidFill>
                <a:latin typeface="Crimson Pro SemiBold" pitchFamily="34" charset="0"/>
                <a:ea typeface="Crimson Pro SemiBold" pitchFamily="34" charset="-122"/>
                <a:cs typeface="Crimson Pro SemiBold" pitchFamily="34" charset="-120"/>
              </a:rPr>
              <a:t>20%</a:t>
            </a:r>
            <a:endParaRPr lang="en-US" sz="1300" dirty="0"/>
          </a:p>
        </p:txBody>
      </p:sp>
      <p:sp>
        <p:nvSpPr>
          <p:cNvPr id="20" name="Text 18"/>
          <p:cNvSpPr/>
          <p:nvPr/>
        </p:nvSpPr>
        <p:spPr>
          <a:xfrm>
            <a:off x="661475" y="5026223"/>
            <a:ext cx="5273047"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Ventas del último mes</a:t>
            </a:r>
            <a:endParaRPr lang="en-US" sz="1300" dirty="0"/>
          </a:p>
        </p:txBody>
      </p:sp>
      <p:sp>
        <p:nvSpPr>
          <p:cNvPr id="21" name="Text 19"/>
          <p:cNvSpPr/>
          <p:nvPr/>
        </p:nvSpPr>
        <p:spPr>
          <a:xfrm>
            <a:off x="661475" y="5338663"/>
            <a:ext cx="5273047" cy="190500"/>
          </a:xfrm>
          <a:prstGeom prst="rect">
            <a:avLst/>
          </a:prstGeom>
          <a:noFill/>
          <a:ln/>
        </p:spPr>
        <p:txBody>
          <a:bodyPr wrap="none" lIns="0" tIns="0" rIns="0" bIns="0" rtlCol="0" anchor="t"/>
          <a:lstStyle/>
          <a:p>
            <a:pPr algn="l" indent="0" marL="0">
              <a:lnSpc>
                <a:spcPct val="120000"/>
              </a:lnSpc>
              <a:buNone/>
            </a:pPr>
            <a:r>
              <a:rPr lang="en-US" sz="1000" dirty="0">
                <a:solidFill>
                  <a:srgbClr val="4C4C4D"/>
                </a:solidFill>
                <a:latin typeface="Heebo" pitchFamily="34" charset="0"/>
                <a:ea typeface="Heebo" pitchFamily="34" charset="-122"/>
                <a:cs typeface="Heebo" pitchFamily="34" charset="-120"/>
              </a:rPr>
              <a:t>Permite identificar cambios recientes en el comportamiento del comercio</a:t>
            </a:r>
            <a:endParaRPr lang="en-US" sz="1000" dirty="0"/>
          </a:p>
        </p:txBody>
      </p:sp>
      <p:sp>
        <p:nvSpPr>
          <p:cNvPr id="22" name="Text 20"/>
          <p:cNvSpPr/>
          <p:nvPr/>
        </p:nvSpPr>
        <p:spPr>
          <a:xfrm>
            <a:off x="6263523" y="1654076"/>
            <a:ext cx="5273047" cy="206673"/>
          </a:xfrm>
          <a:prstGeom prst="rect">
            <a:avLst/>
          </a:prstGeom>
          <a:noFill/>
          <a:ln/>
        </p:spPr>
        <p:txBody>
          <a:bodyPr wrap="none" lIns="0" tIns="0" rIns="0" bIns="0" rtlCol="0" anchor="t"/>
          <a:lstStyle/>
          <a:p>
            <a:pPr algn="l" indent="0" marL="0">
              <a:lnSpc>
                <a:spcPct val="104000"/>
              </a:lnSpc>
              <a:buNone/>
            </a:pPr>
            <a:r>
              <a:rPr lang="en-US" sz="1300" dirty="0">
                <a:solidFill>
                  <a:srgbClr val="3F1464"/>
                </a:solidFill>
                <a:latin typeface="Crimson Pro SemiBold" pitchFamily="34" charset="0"/>
                <a:ea typeface="Crimson Pro SemiBold" pitchFamily="34" charset="-122"/>
                <a:cs typeface="Crimson Pro SemiBold" pitchFamily="34" charset="-120"/>
              </a:rPr>
              <a:t>Segmentos obtenidos</a:t>
            </a:r>
            <a:endParaRPr lang="en-US" sz="1300" dirty="0"/>
          </a:p>
        </p:txBody>
      </p:sp>
      <p:sp>
        <p:nvSpPr>
          <p:cNvPr id="23" name="Text 21"/>
          <p:cNvSpPr/>
          <p:nvPr/>
        </p:nvSpPr>
        <p:spPr>
          <a:xfrm>
            <a:off x="6263523" y="1966516"/>
            <a:ext cx="5273047"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4C4C4D"/>
                </a:solidFill>
                <a:latin typeface="Heebo" pitchFamily="34" charset="0"/>
                <a:ea typeface="Heebo" pitchFamily="34" charset="-122"/>
                <a:cs typeface="Heebo" pitchFamily="34" charset="-120"/>
              </a:rPr>
              <a:t>Cada grupo representa un comportamiento comercial diferente y permite definir acciones específicas.</a:t>
            </a:r>
            <a:endParaRPr lang="en-US" sz="1000" dirty="0"/>
          </a:p>
        </p:txBody>
      </p:sp>
      <p:pic>
        <p:nvPicPr>
          <p:cNvPr id="2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63523" y="2466578"/>
            <a:ext cx="5273047" cy="805557"/>
          </a:xfrm>
          <a:prstGeom prst="rect">
            <a:avLst/>
          </a:prstGeom>
        </p:spPr>
      </p:pic>
      <p:sp>
        <p:nvSpPr>
          <p:cNvPr id="25" name="Text 22"/>
          <p:cNvSpPr/>
          <p:nvPr/>
        </p:nvSpPr>
        <p:spPr>
          <a:xfrm>
            <a:off x="6447966" y="2745284"/>
            <a:ext cx="198433" cy="248047"/>
          </a:xfrm>
          <a:prstGeom prst="rect">
            <a:avLst/>
          </a:prstGeom>
          <a:noFill/>
          <a:ln/>
        </p:spPr>
        <p:txBody>
          <a:bodyPr wrap="none" lIns="0" tIns="0" rIns="0" bIns="0" rtlCol="0" anchor="ctr"/>
          <a:lstStyle/>
          <a:p>
            <a:pPr algn="ctr" indent="0" marL="0">
              <a:lnSpc>
                <a:spcPct val="100000"/>
              </a:lnSpc>
              <a:buNone/>
            </a:pPr>
            <a:r>
              <a:rPr lang="en-US" sz="1550" dirty="0">
                <a:solidFill>
                  <a:srgbClr val="4C4C4D"/>
                </a:solidFill>
                <a:latin typeface="Crimson Pro SemiBold" pitchFamily="34" charset="0"/>
                <a:ea typeface="Crimson Pro SemiBold" pitchFamily="34" charset="-122"/>
                <a:cs typeface="Crimson Pro SemiBold" pitchFamily="34" charset="-120"/>
              </a:rPr>
              <a:t>1</a:t>
            </a:r>
            <a:endParaRPr lang="en-US" sz="1550" dirty="0"/>
          </a:p>
        </p:txBody>
      </p:sp>
      <p:sp>
        <p:nvSpPr>
          <p:cNvPr id="26" name="Text 23"/>
          <p:cNvSpPr/>
          <p:nvPr/>
        </p:nvSpPr>
        <p:spPr>
          <a:xfrm>
            <a:off x="6917557" y="2617887"/>
            <a:ext cx="4467709"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Estratégico</a:t>
            </a:r>
            <a:endParaRPr lang="en-US" sz="1300" dirty="0"/>
          </a:p>
        </p:txBody>
      </p:sp>
      <p:sp>
        <p:nvSpPr>
          <p:cNvPr id="27" name="Text 24"/>
          <p:cNvSpPr/>
          <p:nvPr/>
        </p:nvSpPr>
        <p:spPr>
          <a:xfrm>
            <a:off x="6917557" y="2930327"/>
            <a:ext cx="4467709" cy="190500"/>
          </a:xfrm>
          <a:prstGeom prst="rect">
            <a:avLst/>
          </a:prstGeom>
          <a:noFill/>
          <a:ln/>
        </p:spPr>
        <p:txBody>
          <a:bodyPr wrap="none" lIns="0" tIns="0" rIns="0" bIns="0" rtlCol="0" anchor="t"/>
          <a:lstStyle/>
          <a:p>
            <a:pPr algn="l" indent="0" marL="0">
              <a:lnSpc>
                <a:spcPct val="120000"/>
              </a:lnSpc>
              <a:buNone/>
            </a:pPr>
            <a:r>
              <a:rPr lang="en-US" sz="1000" dirty="0">
                <a:solidFill>
                  <a:srgbClr val="4C4C4D"/>
                </a:solidFill>
                <a:latin typeface="Heebo" pitchFamily="34" charset="0"/>
                <a:ea typeface="Heebo" pitchFamily="34" charset="-122"/>
                <a:cs typeface="Heebo" pitchFamily="34" charset="-120"/>
              </a:rPr>
              <a:t>Mayor aporte al negocio. Prioridad de fidelización y mantenimiento</a:t>
            </a:r>
            <a:endParaRPr lang="en-US" sz="1000" dirty="0"/>
          </a:p>
        </p:txBody>
      </p:sp>
      <p:pic>
        <p:nvPicPr>
          <p:cNvPr id="2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63523" y="3377902"/>
            <a:ext cx="5273047" cy="805557"/>
          </a:xfrm>
          <a:prstGeom prst="rect">
            <a:avLst/>
          </a:prstGeom>
        </p:spPr>
      </p:pic>
      <p:sp>
        <p:nvSpPr>
          <p:cNvPr id="29" name="Text 25"/>
          <p:cNvSpPr/>
          <p:nvPr/>
        </p:nvSpPr>
        <p:spPr>
          <a:xfrm>
            <a:off x="6447966" y="3656608"/>
            <a:ext cx="198433" cy="248047"/>
          </a:xfrm>
          <a:prstGeom prst="rect">
            <a:avLst/>
          </a:prstGeom>
          <a:noFill/>
          <a:ln/>
        </p:spPr>
        <p:txBody>
          <a:bodyPr wrap="none" lIns="0" tIns="0" rIns="0" bIns="0" rtlCol="0" anchor="ctr"/>
          <a:lstStyle/>
          <a:p>
            <a:pPr algn="ctr" indent="0" marL="0">
              <a:lnSpc>
                <a:spcPct val="100000"/>
              </a:lnSpc>
              <a:buNone/>
            </a:pPr>
            <a:r>
              <a:rPr lang="en-US" sz="1550" dirty="0">
                <a:solidFill>
                  <a:srgbClr val="4C4C4D"/>
                </a:solidFill>
                <a:latin typeface="Crimson Pro SemiBold" pitchFamily="34" charset="0"/>
                <a:ea typeface="Crimson Pro SemiBold" pitchFamily="34" charset="-122"/>
                <a:cs typeface="Crimson Pro SemiBold" pitchFamily="34" charset="-120"/>
              </a:rPr>
              <a:t>2</a:t>
            </a:r>
            <a:endParaRPr lang="en-US" sz="1550" dirty="0"/>
          </a:p>
        </p:txBody>
      </p:sp>
      <p:sp>
        <p:nvSpPr>
          <p:cNvPr id="30" name="Text 26"/>
          <p:cNvSpPr/>
          <p:nvPr/>
        </p:nvSpPr>
        <p:spPr>
          <a:xfrm>
            <a:off x="6917557" y="3529211"/>
            <a:ext cx="4467709"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Alto Potencial</a:t>
            </a:r>
            <a:endParaRPr lang="en-US" sz="1300" dirty="0"/>
          </a:p>
        </p:txBody>
      </p:sp>
      <p:sp>
        <p:nvSpPr>
          <p:cNvPr id="31" name="Text 27"/>
          <p:cNvSpPr/>
          <p:nvPr/>
        </p:nvSpPr>
        <p:spPr>
          <a:xfrm>
            <a:off x="6917557" y="3841651"/>
            <a:ext cx="4467709" cy="190500"/>
          </a:xfrm>
          <a:prstGeom prst="rect">
            <a:avLst/>
          </a:prstGeom>
          <a:noFill/>
          <a:ln/>
        </p:spPr>
        <p:txBody>
          <a:bodyPr wrap="none" lIns="0" tIns="0" rIns="0" bIns="0" rtlCol="0" anchor="t"/>
          <a:lstStyle/>
          <a:p>
            <a:pPr algn="l" indent="0" marL="0">
              <a:lnSpc>
                <a:spcPct val="120000"/>
              </a:lnSpc>
              <a:buNone/>
            </a:pPr>
            <a:r>
              <a:rPr lang="en-US" sz="1000" dirty="0">
                <a:solidFill>
                  <a:srgbClr val="4C4C4D"/>
                </a:solidFill>
                <a:latin typeface="Heebo" pitchFamily="34" charset="0"/>
                <a:ea typeface="Heebo" pitchFamily="34" charset="-122"/>
                <a:cs typeface="Heebo" pitchFamily="34" charset="-120"/>
              </a:rPr>
              <a:t>Buen desempeño con posibilidad de incrementar su participación</a:t>
            </a:r>
            <a:endParaRPr lang="en-US" sz="1000" dirty="0"/>
          </a:p>
        </p:txBody>
      </p:sp>
      <p:pic>
        <p:nvPicPr>
          <p:cNvPr id="3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63523" y="4289227"/>
            <a:ext cx="5273047" cy="805557"/>
          </a:xfrm>
          <a:prstGeom prst="rect">
            <a:avLst/>
          </a:prstGeom>
        </p:spPr>
      </p:pic>
      <p:sp>
        <p:nvSpPr>
          <p:cNvPr id="33" name="Text 28"/>
          <p:cNvSpPr/>
          <p:nvPr/>
        </p:nvSpPr>
        <p:spPr>
          <a:xfrm>
            <a:off x="6447966" y="4567932"/>
            <a:ext cx="198433" cy="248047"/>
          </a:xfrm>
          <a:prstGeom prst="rect">
            <a:avLst/>
          </a:prstGeom>
          <a:noFill/>
          <a:ln/>
        </p:spPr>
        <p:txBody>
          <a:bodyPr wrap="none" lIns="0" tIns="0" rIns="0" bIns="0" rtlCol="0" anchor="ctr"/>
          <a:lstStyle/>
          <a:p>
            <a:pPr algn="ctr" indent="0" marL="0">
              <a:lnSpc>
                <a:spcPct val="100000"/>
              </a:lnSpc>
              <a:buNone/>
            </a:pPr>
            <a:r>
              <a:rPr lang="en-US" sz="1550" dirty="0">
                <a:solidFill>
                  <a:srgbClr val="4C4C4D"/>
                </a:solidFill>
                <a:latin typeface="Crimson Pro SemiBold" pitchFamily="34" charset="0"/>
                <a:ea typeface="Crimson Pro SemiBold" pitchFamily="34" charset="-122"/>
                <a:cs typeface="Crimson Pro SemiBold" pitchFamily="34" charset="-120"/>
              </a:rPr>
              <a:t>3</a:t>
            </a:r>
            <a:endParaRPr lang="en-US" sz="1550" dirty="0"/>
          </a:p>
        </p:txBody>
      </p:sp>
      <p:sp>
        <p:nvSpPr>
          <p:cNvPr id="34" name="Text 29"/>
          <p:cNvSpPr/>
          <p:nvPr/>
        </p:nvSpPr>
        <p:spPr>
          <a:xfrm>
            <a:off x="6917557" y="4440535"/>
            <a:ext cx="4467709"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En Desarrollo</a:t>
            </a:r>
            <a:endParaRPr lang="en-US" sz="1300" dirty="0"/>
          </a:p>
        </p:txBody>
      </p:sp>
      <p:sp>
        <p:nvSpPr>
          <p:cNvPr id="35" name="Text 30"/>
          <p:cNvSpPr/>
          <p:nvPr/>
        </p:nvSpPr>
        <p:spPr>
          <a:xfrm>
            <a:off x="6917557" y="4752975"/>
            <a:ext cx="4467709" cy="190500"/>
          </a:xfrm>
          <a:prstGeom prst="rect">
            <a:avLst/>
          </a:prstGeom>
          <a:noFill/>
          <a:ln/>
        </p:spPr>
        <p:txBody>
          <a:bodyPr wrap="none" lIns="0" tIns="0" rIns="0" bIns="0" rtlCol="0" anchor="t"/>
          <a:lstStyle/>
          <a:p>
            <a:pPr algn="l" indent="0" marL="0">
              <a:lnSpc>
                <a:spcPct val="120000"/>
              </a:lnSpc>
              <a:buNone/>
            </a:pPr>
            <a:r>
              <a:rPr lang="en-US" sz="1000" dirty="0">
                <a:solidFill>
                  <a:srgbClr val="4C4C4D"/>
                </a:solidFill>
                <a:latin typeface="Heebo" pitchFamily="34" charset="0"/>
                <a:ea typeface="Heebo" pitchFamily="34" charset="-122"/>
                <a:cs typeface="Heebo" pitchFamily="34" charset="-120"/>
              </a:rPr>
              <a:t>Comercios con actividad intermedia que requieren acciones de crecimiento</a:t>
            </a:r>
            <a:endParaRPr lang="en-US" sz="1000" dirty="0"/>
          </a:p>
        </p:txBody>
      </p:sp>
      <p:pic>
        <p:nvPicPr>
          <p:cNvPr id="3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63523" y="5200551"/>
            <a:ext cx="5273047" cy="805557"/>
          </a:xfrm>
          <a:prstGeom prst="rect">
            <a:avLst/>
          </a:prstGeom>
        </p:spPr>
      </p:pic>
      <p:sp>
        <p:nvSpPr>
          <p:cNvPr id="37" name="Text 31"/>
          <p:cNvSpPr/>
          <p:nvPr/>
        </p:nvSpPr>
        <p:spPr>
          <a:xfrm>
            <a:off x="6447966" y="5479256"/>
            <a:ext cx="198433" cy="248047"/>
          </a:xfrm>
          <a:prstGeom prst="rect">
            <a:avLst/>
          </a:prstGeom>
          <a:noFill/>
          <a:ln/>
        </p:spPr>
        <p:txBody>
          <a:bodyPr wrap="none" lIns="0" tIns="0" rIns="0" bIns="0" rtlCol="0" anchor="ctr"/>
          <a:lstStyle/>
          <a:p>
            <a:pPr algn="ctr" indent="0" marL="0">
              <a:lnSpc>
                <a:spcPct val="100000"/>
              </a:lnSpc>
              <a:buNone/>
            </a:pPr>
            <a:r>
              <a:rPr lang="en-US" sz="1550" dirty="0">
                <a:solidFill>
                  <a:srgbClr val="4C4C4D"/>
                </a:solidFill>
                <a:latin typeface="Crimson Pro SemiBold" pitchFamily="34" charset="0"/>
                <a:ea typeface="Crimson Pro SemiBold" pitchFamily="34" charset="-122"/>
                <a:cs typeface="Crimson Pro SemiBold" pitchFamily="34" charset="-120"/>
              </a:rPr>
              <a:t>4</a:t>
            </a:r>
            <a:endParaRPr lang="en-US" sz="1550" dirty="0"/>
          </a:p>
        </p:txBody>
      </p:sp>
      <p:sp>
        <p:nvSpPr>
          <p:cNvPr id="38" name="Text 32"/>
          <p:cNvSpPr/>
          <p:nvPr/>
        </p:nvSpPr>
        <p:spPr>
          <a:xfrm>
            <a:off x="6917557" y="5351859"/>
            <a:ext cx="4467709"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Baja Actividad</a:t>
            </a:r>
            <a:endParaRPr lang="en-US" sz="1300" dirty="0"/>
          </a:p>
        </p:txBody>
      </p:sp>
      <p:sp>
        <p:nvSpPr>
          <p:cNvPr id="39" name="Text 33"/>
          <p:cNvSpPr/>
          <p:nvPr/>
        </p:nvSpPr>
        <p:spPr>
          <a:xfrm>
            <a:off x="6917557" y="5664299"/>
            <a:ext cx="4467709" cy="190500"/>
          </a:xfrm>
          <a:prstGeom prst="rect">
            <a:avLst/>
          </a:prstGeom>
          <a:noFill/>
          <a:ln/>
        </p:spPr>
        <p:txBody>
          <a:bodyPr wrap="none" lIns="0" tIns="0" rIns="0" bIns="0" rtlCol="0" anchor="t"/>
          <a:lstStyle/>
          <a:p>
            <a:pPr algn="l" indent="0" marL="0">
              <a:lnSpc>
                <a:spcPct val="120000"/>
              </a:lnSpc>
              <a:buNone/>
            </a:pPr>
            <a:r>
              <a:rPr lang="en-US" sz="1000" dirty="0">
                <a:solidFill>
                  <a:srgbClr val="4C4C4D"/>
                </a:solidFill>
                <a:latin typeface="Heebo" pitchFamily="34" charset="0"/>
                <a:ea typeface="Heebo" pitchFamily="34" charset="-122"/>
                <a:cs typeface="Heebo" pitchFamily="34" charset="-120"/>
              </a:rPr>
              <a:t>Comercios con baja actividad que requieren estrategias de reactivación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594916"/>
            <a:ext cx="1271556" cy="176014"/>
          </a:xfrm>
          <a:prstGeom prst="roundRect">
            <a:avLst>
              <a:gd name="adj" fmla="val 7893"/>
            </a:avLst>
          </a:prstGeom>
          <a:noFill/>
          <a:ln w="6350">
            <a:solidFill>
              <a:srgbClr val="A034FE"/>
            </a:solidFill>
            <a:prstDash val="solid"/>
          </a:ln>
        </p:spPr>
      </p:sp>
      <p:sp>
        <p:nvSpPr>
          <p:cNvPr id="3" name="Text 1"/>
          <p:cNvSpPr/>
          <p:nvPr/>
        </p:nvSpPr>
        <p:spPr>
          <a:xfrm>
            <a:off x="730926" y="629642"/>
            <a:ext cx="1742238" cy="106561"/>
          </a:xfrm>
          <a:prstGeom prst="rect">
            <a:avLst/>
          </a:prstGeom>
          <a:noFill/>
          <a:ln/>
        </p:spPr>
        <p:txBody>
          <a:bodyPr wrap="none" lIns="0" tIns="0" rIns="0" bIns="0" rtlCol="0" anchor="t"/>
          <a:lstStyle/>
          <a:p>
            <a:pPr algn="l" indent="0" marL="0">
              <a:lnSpc>
                <a:spcPct val="96000"/>
              </a:lnSpc>
              <a:buNone/>
            </a:pPr>
            <a:r>
              <a:rPr lang="en-US" sz="700" dirty="0">
                <a:solidFill>
                  <a:srgbClr val="A034FE"/>
                </a:solidFill>
                <a:latin typeface="Heebo" pitchFamily="34" charset="0"/>
                <a:ea typeface="Heebo" pitchFamily="34" charset="-122"/>
                <a:cs typeface="Heebo" pitchFamily="34" charset="-120"/>
              </a:rPr>
              <a:t>RESULTADOS DEL MODELO</a:t>
            </a:r>
            <a:endParaRPr lang="en-US" sz="700" dirty="0"/>
          </a:p>
        </p:txBody>
      </p:sp>
      <p:sp>
        <p:nvSpPr>
          <p:cNvPr id="4" name="Text 2"/>
          <p:cNvSpPr/>
          <p:nvPr/>
        </p:nvSpPr>
        <p:spPr>
          <a:xfrm>
            <a:off x="661475" y="803275"/>
            <a:ext cx="10868745" cy="361752"/>
          </a:xfrm>
          <a:prstGeom prst="rect">
            <a:avLst/>
          </a:prstGeom>
          <a:noFill/>
          <a:ln/>
        </p:spPr>
        <p:txBody>
          <a:bodyPr wrap="none" lIns="0" tIns="0" rIns="0" bIns="0" rtlCol="0" anchor="t"/>
          <a:lstStyle/>
          <a:p>
            <a:pPr algn="l" indent="0" marL="0">
              <a:lnSpc>
                <a:spcPct val="104000"/>
              </a:lnSpc>
              <a:buNone/>
            </a:pPr>
            <a:r>
              <a:rPr lang="en-US" sz="2250" dirty="0">
                <a:solidFill>
                  <a:srgbClr val="3F1464"/>
                </a:solidFill>
                <a:latin typeface="Crimson Pro SemiBold" pitchFamily="34" charset="0"/>
                <a:ea typeface="Crimson Pro SemiBold" pitchFamily="34" charset="-122"/>
                <a:cs typeface="Crimson Pro SemiBold" pitchFamily="34" charset="-120"/>
              </a:rPr>
              <a:t>El segmento Estratégico concentra cerca de la mitad del negocio</a:t>
            </a:r>
            <a:endParaRPr lang="en-US" sz="2250" dirty="0"/>
          </a:p>
        </p:txBody>
      </p:sp>
      <p:sp>
        <p:nvSpPr>
          <p:cNvPr id="5" name="Shape 3"/>
          <p:cNvSpPr/>
          <p:nvPr/>
        </p:nvSpPr>
        <p:spPr>
          <a:xfrm>
            <a:off x="661475" y="1377652"/>
            <a:ext cx="7411852" cy="1375073"/>
          </a:xfrm>
          <a:prstGeom prst="roundRect">
            <a:avLst>
              <a:gd name="adj" fmla="val 1263"/>
            </a:avLst>
          </a:prstGeom>
          <a:noFill/>
          <a:ln w="6350">
            <a:solidFill>
              <a:srgbClr val="000000">
                <a:alpha val="8000"/>
              </a:srgbClr>
            </a:solidFill>
            <a:prstDash val="solid"/>
          </a:ln>
        </p:spPr>
      </p:sp>
      <p:sp>
        <p:nvSpPr>
          <p:cNvPr id="6" name="Shape 4"/>
          <p:cNvSpPr/>
          <p:nvPr/>
        </p:nvSpPr>
        <p:spPr>
          <a:xfrm>
            <a:off x="661475" y="1654572"/>
            <a:ext cx="7411852" cy="7236"/>
          </a:xfrm>
          <a:prstGeom prst="rect">
            <a:avLst/>
          </a:prstGeom>
          <a:solidFill>
            <a:srgbClr val="000000">
              <a:alpha val="8000"/>
            </a:srgbClr>
          </a:solidFill>
          <a:ln/>
        </p:spPr>
      </p:sp>
      <p:sp>
        <p:nvSpPr>
          <p:cNvPr id="7" name="Shape 5"/>
          <p:cNvSpPr/>
          <p:nvPr/>
        </p:nvSpPr>
        <p:spPr>
          <a:xfrm>
            <a:off x="661475" y="1928316"/>
            <a:ext cx="7411852" cy="7236"/>
          </a:xfrm>
          <a:prstGeom prst="rect">
            <a:avLst/>
          </a:prstGeom>
          <a:solidFill>
            <a:srgbClr val="000000">
              <a:alpha val="8000"/>
            </a:srgbClr>
          </a:solidFill>
          <a:ln/>
        </p:spPr>
      </p:sp>
      <p:sp>
        <p:nvSpPr>
          <p:cNvPr id="8" name="Shape 6"/>
          <p:cNvSpPr/>
          <p:nvPr/>
        </p:nvSpPr>
        <p:spPr>
          <a:xfrm>
            <a:off x="661475" y="2202061"/>
            <a:ext cx="7411852" cy="7236"/>
          </a:xfrm>
          <a:prstGeom prst="rect">
            <a:avLst/>
          </a:prstGeom>
          <a:solidFill>
            <a:srgbClr val="000000">
              <a:alpha val="8000"/>
            </a:srgbClr>
          </a:solidFill>
          <a:ln/>
        </p:spPr>
      </p:sp>
      <p:sp>
        <p:nvSpPr>
          <p:cNvPr id="9" name="Shape 7"/>
          <p:cNvSpPr/>
          <p:nvPr/>
        </p:nvSpPr>
        <p:spPr>
          <a:xfrm>
            <a:off x="661475" y="2475805"/>
            <a:ext cx="7411852" cy="7236"/>
          </a:xfrm>
          <a:prstGeom prst="rect">
            <a:avLst/>
          </a:prstGeom>
          <a:solidFill>
            <a:srgbClr val="000000">
              <a:alpha val="8000"/>
            </a:srgbClr>
          </a:solidFill>
          <a:ln/>
        </p:spPr>
      </p:sp>
      <p:sp>
        <p:nvSpPr>
          <p:cNvPr id="10" name="Shape 8"/>
          <p:cNvSpPr/>
          <p:nvPr/>
        </p:nvSpPr>
        <p:spPr>
          <a:xfrm>
            <a:off x="667924" y="1384002"/>
            <a:ext cx="1479811" cy="270570"/>
          </a:xfrm>
          <a:custGeom>
            <a:avLst/>
            <a:gdLst/>
            <a:ahLst/>
            <a:cxnLst/>
            <a:rect l="l" t="t" r="r" b="b"/>
            <a:pathLst>
              <a:path w="1479811" h="270570">
                <a:moveTo>
                  <a:pt x="14472" y="0"/>
                </a:moveTo>
                <a:lnTo>
                  <a:pt x="1479811" y="0"/>
                </a:lnTo>
                <a:lnTo>
                  <a:pt x="1479811" y="270570"/>
                </a:lnTo>
                <a:lnTo>
                  <a:pt x="0" y="270570"/>
                </a:lnTo>
                <a:lnTo>
                  <a:pt x="0" y="14472"/>
                </a:lnTo>
                <a:arcTo hR="14472" wR="14472" stAng="10800000" swAng="5400000"/>
                <a:close/>
              </a:path>
            </a:pathLst>
          </a:custGeom>
          <a:solidFill>
            <a:srgbClr val="3F1464"/>
          </a:solidFill>
          <a:ln/>
        </p:spPr>
      </p:sp>
      <p:sp>
        <p:nvSpPr>
          <p:cNvPr id="11" name="Text 9"/>
          <p:cNvSpPr/>
          <p:nvPr/>
        </p:nvSpPr>
        <p:spPr>
          <a:xfrm>
            <a:off x="783610" y="1438970"/>
            <a:ext cx="1858023" cy="157460"/>
          </a:xfrm>
          <a:prstGeom prst="rect">
            <a:avLst/>
          </a:prstGeom>
          <a:noFill/>
          <a:ln/>
        </p:spPr>
        <p:txBody>
          <a:bodyPr wrap="none" lIns="0" tIns="0" rIns="0" bIns="0" rtlCol="0" anchor="t"/>
          <a:lstStyle/>
          <a:p>
            <a:pPr algn="l" indent="0" marL="0">
              <a:lnSpc>
                <a:spcPct val="113000"/>
              </a:lnSpc>
              <a:buNone/>
            </a:pPr>
            <a:r>
              <a:rPr lang="en-US" sz="900" b="1" dirty="0">
                <a:solidFill>
                  <a:srgbClr val="FFFFFF"/>
                </a:solidFill>
                <a:latin typeface="Heebo Bold" pitchFamily="34" charset="0"/>
                <a:ea typeface="Heebo Bold" pitchFamily="34" charset="-122"/>
                <a:cs typeface="Heebo Bold" pitchFamily="34" charset="-120"/>
              </a:rPr>
              <a:t>Segmento</a:t>
            </a:r>
            <a:endParaRPr lang="en-US" sz="900" dirty="0"/>
          </a:p>
        </p:txBody>
      </p:sp>
      <p:sp>
        <p:nvSpPr>
          <p:cNvPr id="12" name="Shape 10"/>
          <p:cNvSpPr/>
          <p:nvPr/>
        </p:nvSpPr>
        <p:spPr>
          <a:xfrm>
            <a:off x="2147735" y="1384002"/>
            <a:ext cx="1479811" cy="270570"/>
          </a:xfrm>
          <a:prstGeom prst="rect">
            <a:avLst/>
          </a:prstGeom>
          <a:solidFill>
            <a:srgbClr val="3F1464"/>
          </a:solidFill>
          <a:ln/>
        </p:spPr>
      </p:sp>
      <p:sp>
        <p:nvSpPr>
          <p:cNvPr id="13" name="Text 11"/>
          <p:cNvSpPr/>
          <p:nvPr/>
        </p:nvSpPr>
        <p:spPr>
          <a:xfrm>
            <a:off x="2263421" y="1438970"/>
            <a:ext cx="1858023" cy="157460"/>
          </a:xfrm>
          <a:prstGeom prst="rect">
            <a:avLst/>
          </a:prstGeom>
          <a:noFill/>
          <a:ln/>
        </p:spPr>
        <p:txBody>
          <a:bodyPr wrap="none" lIns="0" tIns="0" rIns="0" bIns="0" rtlCol="0" anchor="t"/>
          <a:lstStyle/>
          <a:p>
            <a:pPr algn="l" indent="0" marL="0">
              <a:lnSpc>
                <a:spcPct val="113000"/>
              </a:lnSpc>
              <a:buNone/>
            </a:pPr>
            <a:r>
              <a:rPr lang="en-US" sz="900" b="1" dirty="0">
                <a:solidFill>
                  <a:srgbClr val="FFFFFF"/>
                </a:solidFill>
                <a:latin typeface="Heebo Bold" pitchFamily="34" charset="0"/>
                <a:ea typeface="Heebo Bold" pitchFamily="34" charset="-122"/>
                <a:cs typeface="Heebo Bold" pitchFamily="34" charset="-120"/>
              </a:rPr>
              <a:t>Comercios</a:t>
            </a:r>
            <a:endParaRPr lang="en-US" sz="900" dirty="0"/>
          </a:p>
        </p:txBody>
      </p:sp>
      <p:sp>
        <p:nvSpPr>
          <p:cNvPr id="14" name="Shape 12"/>
          <p:cNvSpPr/>
          <p:nvPr/>
        </p:nvSpPr>
        <p:spPr>
          <a:xfrm>
            <a:off x="3627545" y="1384002"/>
            <a:ext cx="1479811" cy="270570"/>
          </a:xfrm>
          <a:prstGeom prst="rect">
            <a:avLst/>
          </a:prstGeom>
          <a:solidFill>
            <a:srgbClr val="3F1464"/>
          </a:solidFill>
          <a:ln/>
        </p:spPr>
      </p:sp>
      <p:sp>
        <p:nvSpPr>
          <p:cNvPr id="15" name="Text 13"/>
          <p:cNvSpPr/>
          <p:nvPr/>
        </p:nvSpPr>
        <p:spPr>
          <a:xfrm>
            <a:off x="3743231" y="1438970"/>
            <a:ext cx="1858023" cy="157460"/>
          </a:xfrm>
          <a:prstGeom prst="rect">
            <a:avLst/>
          </a:prstGeom>
          <a:noFill/>
          <a:ln/>
        </p:spPr>
        <p:txBody>
          <a:bodyPr wrap="none" lIns="0" tIns="0" rIns="0" bIns="0" rtlCol="0" anchor="t"/>
          <a:lstStyle/>
          <a:p>
            <a:pPr algn="l" indent="0" marL="0">
              <a:lnSpc>
                <a:spcPct val="113000"/>
              </a:lnSpc>
              <a:buNone/>
            </a:pPr>
            <a:r>
              <a:rPr lang="en-US" sz="900" b="1" dirty="0">
                <a:solidFill>
                  <a:srgbClr val="FFFFFF"/>
                </a:solidFill>
                <a:latin typeface="Heebo Bold" pitchFamily="34" charset="0"/>
                <a:ea typeface="Heebo Bold" pitchFamily="34" charset="-122"/>
                <a:cs typeface="Heebo Bold" pitchFamily="34" charset="-120"/>
              </a:rPr>
              <a:t>% Comercios</a:t>
            </a:r>
            <a:endParaRPr lang="en-US" sz="900" dirty="0"/>
          </a:p>
        </p:txBody>
      </p:sp>
      <p:sp>
        <p:nvSpPr>
          <p:cNvPr id="16" name="Shape 14"/>
          <p:cNvSpPr/>
          <p:nvPr/>
        </p:nvSpPr>
        <p:spPr>
          <a:xfrm>
            <a:off x="5107356" y="1384002"/>
            <a:ext cx="1479811" cy="270570"/>
          </a:xfrm>
          <a:prstGeom prst="rect">
            <a:avLst/>
          </a:prstGeom>
          <a:solidFill>
            <a:srgbClr val="3F1464"/>
          </a:solidFill>
          <a:ln/>
        </p:spPr>
      </p:sp>
      <p:sp>
        <p:nvSpPr>
          <p:cNvPr id="17" name="Text 15"/>
          <p:cNvSpPr/>
          <p:nvPr/>
        </p:nvSpPr>
        <p:spPr>
          <a:xfrm>
            <a:off x="5223042" y="1438970"/>
            <a:ext cx="1858023" cy="157460"/>
          </a:xfrm>
          <a:prstGeom prst="rect">
            <a:avLst/>
          </a:prstGeom>
          <a:noFill/>
          <a:ln/>
        </p:spPr>
        <p:txBody>
          <a:bodyPr wrap="none" lIns="0" tIns="0" rIns="0" bIns="0" rtlCol="0" anchor="t"/>
          <a:lstStyle/>
          <a:p>
            <a:pPr algn="l" indent="0" marL="0">
              <a:lnSpc>
                <a:spcPct val="113000"/>
              </a:lnSpc>
              <a:buNone/>
            </a:pPr>
            <a:r>
              <a:rPr lang="en-US" sz="900" b="1" dirty="0">
                <a:solidFill>
                  <a:srgbClr val="FFFFFF"/>
                </a:solidFill>
                <a:latin typeface="Heebo Bold" pitchFamily="34" charset="0"/>
                <a:ea typeface="Heebo Bold" pitchFamily="34" charset="-122"/>
                <a:cs typeface="Heebo Bold" pitchFamily="34" charset="-120"/>
              </a:rPr>
              <a:t>% Ventas Acum.</a:t>
            </a:r>
            <a:endParaRPr lang="en-US" sz="900" dirty="0"/>
          </a:p>
        </p:txBody>
      </p:sp>
      <p:sp>
        <p:nvSpPr>
          <p:cNvPr id="18" name="Shape 16"/>
          <p:cNvSpPr/>
          <p:nvPr/>
        </p:nvSpPr>
        <p:spPr>
          <a:xfrm>
            <a:off x="6587166" y="1384002"/>
            <a:ext cx="1479811" cy="270570"/>
          </a:xfrm>
          <a:custGeom>
            <a:avLst/>
            <a:gdLst/>
            <a:ahLst/>
            <a:cxnLst/>
            <a:rect l="l" t="t" r="r" b="b"/>
            <a:pathLst>
              <a:path w="1479811" h="270570">
                <a:moveTo>
                  <a:pt x="0" y="0"/>
                </a:moveTo>
                <a:lnTo>
                  <a:pt x="1465339" y="0"/>
                </a:lnTo>
                <a:arcTo hR="14472" wR="14472" stAng="16200000" swAng="5400000"/>
                <a:lnTo>
                  <a:pt x="1479811" y="270570"/>
                </a:lnTo>
                <a:lnTo>
                  <a:pt x="0" y="270570"/>
                </a:lnTo>
                <a:lnTo>
                  <a:pt x="0" y="0"/>
                </a:lnTo>
                <a:close/>
              </a:path>
            </a:pathLst>
          </a:custGeom>
          <a:solidFill>
            <a:srgbClr val="3F1464"/>
          </a:solidFill>
          <a:ln/>
        </p:spPr>
      </p:sp>
      <p:sp>
        <p:nvSpPr>
          <p:cNvPr id="19" name="Text 17"/>
          <p:cNvSpPr/>
          <p:nvPr/>
        </p:nvSpPr>
        <p:spPr>
          <a:xfrm>
            <a:off x="6702853" y="1438970"/>
            <a:ext cx="1858023" cy="157460"/>
          </a:xfrm>
          <a:prstGeom prst="rect">
            <a:avLst/>
          </a:prstGeom>
          <a:noFill/>
          <a:ln/>
        </p:spPr>
        <p:txBody>
          <a:bodyPr wrap="none" lIns="0" tIns="0" rIns="0" bIns="0" rtlCol="0" anchor="t"/>
          <a:lstStyle/>
          <a:p>
            <a:pPr algn="l" indent="0" marL="0">
              <a:lnSpc>
                <a:spcPct val="113000"/>
              </a:lnSpc>
              <a:buNone/>
            </a:pPr>
            <a:r>
              <a:rPr lang="en-US" sz="900" b="1" dirty="0">
                <a:solidFill>
                  <a:srgbClr val="FFFFFF"/>
                </a:solidFill>
                <a:latin typeface="Heebo Bold" pitchFamily="34" charset="0"/>
                <a:ea typeface="Heebo Bold" pitchFamily="34" charset="-122"/>
                <a:cs typeface="Heebo Bold" pitchFamily="34" charset="-120"/>
              </a:rPr>
              <a:t>% Ventas Últ. Mes</a:t>
            </a:r>
            <a:endParaRPr lang="en-US" sz="900" dirty="0"/>
          </a:p>
        </p:txBody>
      </p:sp>
      <p:sp>
        <p:nvSpPr>
          <p:cNvPr id="20" name="Text 18"/>
          <p:cNvSpPr/>
          <p:nvPr/>
        </p:nvSpPr>
        <p:spPr>
          <a:xfrm>
            <a:off x="783610" y="1712714"/>
            <a:ext cx="1858023" cy="157460"/>
          </a:xfrm>
          <a:prstGeom prst="rect">
            <a:avLst/>
          </a:prstGeom>
          <a:noFill/>
          <a:ln/>
        </p:spPr>
        <p:txBody>
          <a:bodyPr wrap="none" lIns="0" tIns="0" rIns="0" bIns="0" rtlCol="0" anchor="t"/>
          <a:lstStyle/>
          <a:p>
            <a:pPr algn="l" indent="0" marL="0">
              <a:lnSpc>
                <a:spcPct val="113000"/>
              </a:lnSpc>
              <a:buNone/>
            </a:pPr>
            <a:r>
              <a:rPr lang="en-US" sz="900" b="1" dirty="0">
                <a:solidFill>
                  <a:srgbClr val="4C4C4D"/>
                </a:solidFill>
                <a:latin typeface="Heebo Bold" pitchFamily="34" charset="0"/>
                <a:ea typeface="Heebo Bold" pitchFamily="34" charset="-122"/>
                <a:cs typeface="Heebo Bold" pitchFamily="34" charset="-120"/>
              </a:rPr>
              <a:t>Estratégico</a:t>
            </a:r>
            <a:endParaRPr lang="en-US" sz="900" dirty="0"/>
          </a:p>
        </p:txBody>
      </p:sp>
      <p:sp>
        <p:nvSpPr>
          <p:cNvPr id="21" name="Text 19"/>
          <p:cNvSpPr/>
          <p:nvPr/>
        </p:nvSpPr>
        <p:spPr>
          <a:xfrm>
            <a:off x="2263421" y="1712714"/>
            <a:ext cx="1858023" cy="157460"/>
          </a:xfrm>
          <a:prstGeom prst="rect">
            <a:avLst/>
          </a:prstGeom>
          <a:noFill/>
          <a:ln/>
        </p:spPr>
        <p:txBody>
          <a:bodyPr wrap="none" lIns="0" tIns="0" rIns="0" bIns="0" rtlCol="0" anchor="t"/>
          <a:lstStyle/>
          <a:p>
            <a:pPr algn="l" indent="0" marL="0">
              <a:lnSpc>
                <a:spcPct val="113000"/>
              </a:lnSpc>
              <a:buNone/>
            </a:pPr>
            <a:r>
              <a:rPr lang="en-US" sz="900" b="1" dirty="0">
                <a:solidFill>
                  <a:srgbClr val="4C4C4D"/>
                </a:solidFill>
                <a:latin typeface="Heebo Bold" pitchFamily="34" charset="0"/>
                <a:ea typeface="Heebo Bold" pitchFamily="34" charset="-122"/>
                <a:cs typeface="Heebo Bold" pitchFamily="34" charset="-120"/>
              </a:rPr>
              <a:t>302</a:t>
            </a:r>
            <a:endParaRPr lang="en-US" sz="900" dirty="0"/>
          </a:p>
        </p:txBody>
      </p:sp>
      <p:sp>
        <p:nvSpPr>
          <p:cNvPr id="22" name="Text 20"/>
          <p:cNvSpPr/>
          <p:nvPr/>
        </p:nvSpPr>
        <p:spPr>
          <a:xfrm>
            <a:off x="3743231" y="1712714"/>
            <a:ext cx="1858023" cy="157460"/>
          </a:xfrm>
          <a:prstGeom prst="rect">
            <a:avLst/>
          </a:prstGeom>
          <a:noFill/>
          <a:ln/>
        </p:spPr>
        <p:txBody>
          <a:bodyPr wrap="none" lIns="0" tIns="0" rIns="0" bIns="0" rtlCol="0" anchor="t"/>
          <a:lstStyle/>
          <a:p>
            <a:pPr algn="l" indent="0" marL="0">
              <a:lnSpc>
                <a:spcPct val="113000"/>
              </a:lnSpc>
              <a:buNone/>
            </a:pPr>
            <a:r>
              <a:rPr lang="en-US" sz="900" b="1" dirty="0">
                <a:solidFill>
                  <a:srgbClr val="6F24B1"/>
                </a:solidFill>
                <a:latin typeface="Heebo Bold" pitchFamily="34" charset="0"/>
                <a:ea typeface="Heebo Bold" pitchFamily="34" charset="-122"/>
                <a:cs typeface="Heebo Bold" pitchFamily="34" charset="-120"/>
              </a:rPr>
              <a:t>10%</a:t>
            </a:r>
            <a:endParaRPr lang="en-US" sz="900" dirty="0"/>
          </a:p>
        </p:txBody>
      </p:sp>
      <p:sp>
        <p:nvSpPr>
          <p:cNvPr id="23" name="Text 21"/>
          <p:cNvSpPr/>
          <p:nvPr/>
        </p:nvSpPr>
        <p:spPr>
          <a:xfrm>
            <a:off x="5223042" y="1712714"/>
            <a:ext cx="1858023" cy="157460"/>
          </a:xfrm>
          <a:prstGeom prst="rect">
            <a:avLst/>
          </a:prstGeom>
          <a:noFill/>
          <a:ln/>
        </p:spPr>
        <p:txBody>
          <a:bodyPr wrap="none" lIns="0" tIns="0" rIns="0" bIns="0" rtlCol="0" anchor="t"/>
          <a:lstStyle/>
          <a:p>
            <a:pPr algn="l" indent="0" marL="0">
              <a:lnSpc>
                <a:spcPct val="113000"/>
              </a:lnSpc>
              <a:buNone/>
            </a:pPr>
            <a:r>
              <a:rPr lang="en-US" sz="900" b="1" dirty="0">
                <a:solidFill>
                  <a:srgbClr val="6F24B1"/>
                </a:solidFill>
                <a:latin typeface="Heebo Bold" pitchFamily="34" charset="0"/>
                <a:ea typeface="Heebo Bold" pitchFamily="34" charset="-122"/>
                <a:cs typeface="Heebo Bold" pitchFamily="34" charset="-120"/>
              </a:rPr>
              <a:t>47.6%</a:t>
            </a:r>
            <a:endParaRPr lang="en-US" sz="900" dirty="0"/>
          </a:p>
        </p:txBody>
      </p:sp>
      <p:sp>
        <p:nvSpPr>
          <p:cNvPr id="24" name="Text 22"/>
          <p:cNvSpPr/>
          <p:nvPr/>
        </p:nvSpPr>
        <p:spPr>
          <a:xfrm>
            <a:off x="6702853" y="1712714"/>
            <a:ext cx="1858023" cy="157460"/>
          </a:xfrm>
          <a:prstGeom prst="rect">
            <a:avLst/>
          </a:prstGeom>
          <a:noFill/>
          <a:ln/>
        </p:spPr>
        <p:txBody>
          <a:bodyPr wrap="none" lIns="0" tIns="0" rIns="0" bIns="0" rtlCol="0" anchor="t"/>
          <a:lstStyle/>
          <a:p>
            <a:pPr algn="l" indent="0" marL="0">
              <a:lnSpc>
                <a:spcPct val="113000"/>
              </a:lnSpc>
              <a:buNone/>
            </a:pPr>
            <a:r>
              <a:rPr lang="en-US" sz="900" b="1" dirty="0">
                <a:solidFill>
                  <a:srgbClr val="6F24B1"/>
                </a:solidFill>
                <a:latin typeface="Heebo Bold" pitchFamily="34" charset="0"/>
                <a:ea typeface="Heebo Bold" pitchFamily="34" charset="-122"/>
                <a:cs typeface="Heebo Bold" pitchFamily="34" charset="-120"/>
              </a:rPr>
              <a:t>48.8%</a:t>
            </a:r>
            <a:endParaRPr lang="en-US" sz="900" dirty="0"/>
          </a:p>
        </p:txBody>
      </p:sp>
      <p:sp>
        <p:nvSpPr>
          <p:cNvPr id="25" name="Text 23"/>
          <p:cNvSpPr/>
          <p:nvPr/>
        </p:nvSpPr>
        <p:spPr>
          <a:xfrm>
            <a:off x="783610" y="1986459"/>
            <a:ext cx="1858023" cy="157460"/>
          </a:xfrm>
          <a:prstGeom prst="rect">
            <a:avLst/>
          </a:prstGeom>
          <a:noFill/>
          <a:ln/>
        </p:spPr>
        <p:txBody>
          <a:bodyPr wrap="none" lIns="0" tIns="0" rIns="0" bIns="0" rtlCol="0" anchor="t"/>
          <a:lstStyle/>
          <a:p>
            <a:pPr algn="l" indent="0" marL="0">
              <a:lnSpc>
                <a:spcPct val="113000"/>
              </a:lnSpc>
              <a:buNone/>
            </a:pPr>
            <a:r>
              <a:rPr lang="en-US" sz="900" dirty="0">
                <a:solidFill>
                  <a:srgbClr val="4C4C4D"/>
                </a:solidFill>
                <a:latin typeface="Heebo" pitchFamily="34" charset="0"/>
                <a:ea typeface="Heebo" pitchFamily="34" charset="-122"/>
                <a:cs typeface="Heebo" pitchFamily="34" charset="-120"/>
              </a:rPr>
              <a:t>Alto Potencial</a:t>
            </a:r>
            <a:endParaRPr lang="en-US" sz="900" dirty="0"/>
          </a:p>
        </p:txBody>
      </p:sp>
      <p:sp>
        <p:nvSpPr>
          <p:cNvPr id="26" name="Text 24"/>
          <p:cNvSpPr/>
          <p:nvPr/>
        </p:nvSpPr>
        <p:spPr>
          <a:xfrm>
            <a:off x="2263421" y="1986459"/>
            <a:ext cx="1858023" cy="157460"/>
          </a:xfrm>
          <a:prstGeom prst="rect">
            <a:avLst/>
          </a:prstGeom>
          <a:noFill/>
          <a:ln/>
        </p:spPr>
        <p:txBody>
          <a:bodyPr wrap="none" lIns="0" tIns="0" rIns="0" bIns="0" rtlCol="0" anchor="t"/>
          <a:lstStyle/>
          <a:p>
            <a:pPr algn="l" indent="0" marL="0">
              <a:lnSpc>
                <a:spcPct val="113000"/>
              </a:lnSpc>
              <a:buNone/>
            </a:pPr>
            <a:r>
              <a:rPr lang="en-US" sz="900" dirty="0">
                <a:solidFill>
                  <a:srgbClr val="4C4C4D"/>
                </a:solidFill>
                <a:latin typeface="Heebo" pitchFamily="34" charset="0"/>
                <a:ea typeface="Heebo" pitchFamily="34" charset="-122"/>
                <a:cs typeface="Heebo" pitchFamily="34" charset="-120"/>
              </a:rPr>
              <a:t>603</a:t>
            </a:r>
            <a:endParaRPr lang="en-US" sz="900" dirty="0"/>
          </a:p>
        </p:txBody>
      </p:sp>
      <p:sp>
        <p:nvSpPr>
          <p:cNvPr id="27" name="Text 25"/>
          <p:cNvSpPr/>
          <p:nvPr/>
        </p:nvSpPr>
        <p:spPr>
          <a:xfrm>
            <a:off x="3743231" y="1986459"/>
            <a:ext cx="1858023" cy="157460"/>
          </a:xfrm>
          <a:prstGeom prst="rect">
            <a:avLst/>
          </a:prstGeom>
          <a:noFill/>
          <a:ln/>
        </p:spPr>
        <p:txBody>
          <a:bodyPr wrap="none" lIns="0" tIns="0" rIns="0" bIns="0" rtlCol="0" anchor="t"/>
          <a:lstStyle/>
          <a:p>
            <a:pPr algn="l" indent="0" marL="0">
              <a:lnSpc>
                <a:spcPct val="113000"/>
              </a:lnSpc>
              <a:buNone/>
            </a:pPr>
            <a:r>
              <a:rPr lang="en-US" sz="900" dirty="0">
                <a:solidFill>
                  <a:srgbClr val="4C4C4D"/>
                </a:solidFill>
                <a:latin typeface="Heebo" pitchFamily="34" charset="0"/>
                <a:ea typeface="Heebo" pitchFamily="34" charset="-122"/>
                <a:cs typeface="Heebo" pitchFamily="34" charset="-120"/>
              </a:rPr>
              <a:t>20%</a:t>
            </a:r>
            <a:endParaRPr lang="en-US" sz="900" dirty="0"/>
          </a:p>
        </p:txBody>
      </p:sp>
      <p:sp>
        <p:nvSpPr>
          <p:cNvPr id="28" name="Text 26"/>
          <p:cNvSpPr/>
          <p:nvPr/>
        </p:nvSpPr>
        <p:spPr>
          <a:xfrm>
            <a:off x="5223042" y="1986459"/>
            <a:ext cx="1858023" cy="157460"/>
          </a:xfrm>
          <a:prstGeom prst="rect">
            <a:avLst/>
          </a:prstGeom>
          <a:noFill/>
          <a:ln/>
        </p:spPr>
        <p:txBody>
          <a:bodyPr wrap="none" lIns="0" tIns="0" rIns="0" bIns="0" rtlCol="0" anchor="t"/>
          <a:lstStyle/>
          <a:p>
            <a:pPr algn="l" indent="0" marL="0">
              <a:lnSpc>
                <a:spcPct val="113000"/>
              </a:lnSpc>
              <a:buNone/>
            </a:pPr>
            <a:r>
              <a:rPr lang="en-US" sz="900" dirty="0">
                <a:solidFill>
                  <a:srgbClr val="4C4C4D"/>
                </a:solidFill>
                <a:latin typeface="Heebo" pitchFamily="34" charset="0"/>
                <a:ea typeface="Heebo" pitchFamily="34" charset="-122"/>
                <a:cs typeface="Heebo" pitchFamily="34" charset="-120"/>
              </a:rPr>
              <a:t>32.6%</a:t>
            </a:r>
            <a:endParaRPr lang="en-US" sz="900" dirty="0"/>
          </a:p>
        </p:txBody>
      </p:sp>
      <p:sp>
        <p:nvSpPr>
          <p:cNvPr id="29" name="Text 27"/>
          <p:cNvSpPr/>
          <p:nvPr/>
        </p:nvSpPr>
        <p:spPr>
          <a:xfrm>
            <a:off x="6702853" y="1986459"/>
            <a:ext cx="1858023" cy="157460"/>
          </a:xfrm>
          <a:prstGeom prst="rect">
            <a:avLst/>
          </a:prstGeom>
          <a:noFill/>
          <a:ln/>
        </p:spPr>
        <p:txBody>
          <a:bodyPr wrap="none" lIns="0" tIns="0" rIns="0" bIns="0" rtlCol="0" anchor="t"/>
          <a:lstStyle/>
          <a:p>
            <a:pPr algn="l" indent="0" marL="0">
              <a:lnSpc>
                <a:spcPct val="113000"/>
              </a:lnSpc>
              <a:buNone/>
            </a:pPr>
            <a:r>
              <a:rPr lang="en-US" sz="900" dirty="0">
                <a:solidFill>
                  <a:srgbClr val="4C4C4D"/>
                </a:solidFill>
                <a:latin typeface="Heebo" pitchFamily="34" charset="0"/>
                <a:ea typeface="Heebo" pitchFamily="34" charset="-122"/>
                <a:cs typeface="Heebo" pitchFamily="34" charset="-120"/>
              </a:rPr>
              <a:t>33.3%</a:t>
            </a:r>
            <a:endParaRPr lang="en-US" sz="900" dirty="0"/>
          </a:p>
        </p:txBody>
      </p:sp>
      <p:sp>
        <p:nvSpPr>
          <p:cNvPr id="30" name="Text 28"/>
          <p:cNvSpPr/>
          <p:nvPr/>
        </p:nvSpPr>
        <p:spPr>
          <a:xfrm>
            <a:off x="783610" y="2260203"/>
            <a:ext cx="1858023" cy="157460"/>
          </a:xfrm>
          <a:prstGeom prst="rect">
            <a:avLst/>
          </a:prstGeom>
          <a:noFill/>
          <a:ln/>
        </p:spPr>
        <p:txBody>
          <a:bodyPr wrap="none" lIns="0" tIns="0" rIns="0" bIns="0" rtlCol="0" anchor="t"/>
          <a:lstStyle/>
          <a:p>
            <a:pPr algn="l" indent="0" marL="0">
              <a:lnSpc>
                <a:spcPct val="113000"/>
              </a:lnSpc>
              <a:buNone/>
            </a:pPr>
            <a:r>
              <a:rPr lang="en-US" sz="900" dirty="0">
                <a:solidFill>
                  <a:srgbClr val="4C4C4D"/>
                </a:solidFill>
                <a:latin typeface="Heebo" pitchFamily="34" charset="0"/>
                <a:ea typeface="Heebo" pitchFamily="34" charset="-122"/>
                <a:cs typeface="Heebo" pitchFamily="34" charset="-120"/>
              </a:rPr>
              <a:t>En Desarrollo</a:t>
            </a:r>
            <a:endParaRPr lang="en-US" sz="900" dirty="0"/>
          </a:p>
        </p:txBody>
      </p:sp>
      <p:sp>
        <p:nvSpPr>
          <p:cNvPr id="31" name="Text 29"/>
          <p:cNvSpPr/>
          <p:nvPr/>
        </p:nvSpPr>
        <p:spPr>
          <a:xfrm>
            <a:off x="2263421" y="2260203"/>
            <a:ext cx="1858023" cy="157460"/>
          </a:xfrm>
          <a:prstGeom prst="rect">
            <a:avLst/>
          </a:prstGeom>
          <a:noFill/>
          <a:ln/>
        </p:spPr>
        <p:txBody>
          <a:bodyPr wrap="none" lIns="0" tIns="0" rIns="0" bIns="0" rtlCol="0" anchor="t"/>
          <a:lstStyle/>
          <a:p>
            <a:pPr algn="l" indent="0" marL="0">
              <a:lnSpc>
                <a:spcPct val="113000"/>
              </a:lnSpc>
              <a:buNone/>
            </a:pPr>
            <a:r>
              <a:rPr lang="en-US" sz="900" dirty="0">
                <a:solidFill>
                  <a:srgbClr val="4C4C4D"/>
                </a:solidFill>
                <a:latin typeface="Heebo" pitchFamily="34" charset="0"/>
                <a:ea typeface="Heebo" pitchFamily="34" charset="-122"/>
                <a:cs typeface="Heebo" pitchFamily="34" charset="-120"/>
              </a:rPr>
              <a:t>904</a:t>
            </a:r>
            <a:endParaRPr lang="en-US" sz="900" dirty="0"/>
          </a:p>
        </p:txBody>
      </p:sp>
      <p:sp>
        <p:nvSpPr>
          <p:cNvPr id="32" name="Text 30"/>
          <p:cNvSpPr/>
          <p:nvPr/>
        </p:nvSpPr>
        <p:spPr>
          <a:xfrm>
            <a:off x="3743231" y="2260203"/>
            <a:ext cx="1858023" cy="157460"/>
          </a:xfrm>
          <a:prstGeom prst="rect">
            <a:avLst/>
          </a:prstGeom>
          <a:noFill/>
          <a:ln/>
        </p:spPr>
        <p:txBody>
          <a:bodyPr wrap="none" lIns="0" tIns="0" rIns="0" bIns="0" rtlCol="0" anchor="t"/>
          <a:lstStyle/>
          <a:p>
            <a:pPr algn="l" indent="0" marL="0">
              <a:lnSpc>
                <a:spcPct val="113000"/>
              </a:lnSpc>
              <a:buNone/>
            </a:pPr>
            <a:r>
              <a:rPr lang="en-US" sz="900" dirty="0">
                <a:solidFill>
                  <a:srgbClr val="4C4C4D"/>
                </a:solidFill>
                <a:latin typeface="Heebo" pitchFamily="34" charset="0"/>
                <a:ea typeface="Heebo" pitchFamily="34" charset="-122"/>
                <a:cs typeface="Heebo" pitchFamily="34" charset="-120"/>
              </a:rPr>
              <a:t>30%</a:t>
            </a:r>
            <a:endParaRPr lang="en-US" sz="900" dirty="0"/>
          </a:p>
        </p:txBody>
      </p:sp>
      <p:sp>
        <p:nvSpPr>
          <p:cNvPr id="33" name="Text 31"/>
          <p:cNvSpPr/>
          <p:nvPr/>
        </p:nvSpPr>
        <p:spPr>
          <a:xfrm>
            <a:off x="5223042" y="2260203"/>
            <a:ext cx="1858023" cy="157460"/>
          </a:xfrm>
          <a:prstGeom prst="rect">
            <a:avLst/>
          </a:prstGeom>
          <a:noFill/>
          <a:ln/>
        </p:spPr>
        <p:txBody>
          <a:bodyPr wrap="none" lIns="0" tIns="0" rIns="0" bIns="0" rtlCol="0" anchor="t"/>
          <a:lstStyle/>
          <a:p>
            <a:pPr algn="l" indent="0" marL="0">
              <a:lnSpc>
                <a:spcPct val="113000"/>
              </a:lnSpc>
              <a:buNone/>
            </a:pPr>
            <a:r>
              <a:rPr lang="en-US" sz="900" dirty="0">
                <a:solidFill>
                  <a:srgbClr val="4C4C4D"/>
                </a:solidFill>
                <a:latin typeface="Heebo" pitchFamily="34" charset="0"/>
                <a:ea typeface="Heebo" pitchFamily="34" charset="-122"/>
                <a:cs typeface="Heebo" pitchFamily="34" charset="-120"/>
              </a:rPr>
              <a:t>16.5%</a:t>
            </a:r>
            <a:endParaRPr lang="en-US" sz="900" dirty="0"/>
          </a:p>
        </p:txBody>
      </p:sp>
      <p:sp>
        <p:nvSpPr>
          <p:cNvPr id="34" name="Text 32"/>
          <p:cNvSpPr/>
          <p:nvPr/>
        </p:nvSpPr>
        <p:spPr>
          <a:xfrm>
            <a:off x="6702853" y="2260203"/>
            <a:ext cx="1858023" cy="157460"/>
          </a:xfrm>
          <a:prstGeom prst="rect">
            <a:avLst/>
          </a:prstGeom>
          <a:noFill/>
          <a:ln/>
        </p:spPr>
        <p:txBody>
          <a:bodyPr wrap="none" lIns="0" tIns="0" rIns="0" bIns="0" rtlCol="0" anchor="t"/>
          <a:lstStyle/>
          <a:p>
            <a:pPr algn="l" indent="0" marL="0">
              <a:lnSpc>
                <a:spcPct val="113000"/>
              </a:lnSpc>
              <a:buNone/>
            </a:pPr>
            <a:r>
              <a:rPr lang="en-US" sz="900" dirty="0">
                <a:solidFill>
                  <a:srgbClr val="4C4C4D"/>
                </a:solidFill>
                <a:latin typeface="Heebo" pitchFamily="34" charset="0"/>
                <a:ea typeface="Heebo" pitchFamily="34" charset="-122"/>
                <a:cs typeface="Heebo" pitchFamily="34" charset="-120"/>
              </a:rPr>
              <a:t>15.7%</a:t>
            </a:r>
            <a:endParaRPr lang="en-US" sz="900" dirty="0"/>
          </a:p>
        </p:txBody>
      </p:sp>
      <p:sp>
        <p:nvSpPr>
          <p:cNvPr id="35" name="Text 33"/>
          <p:cNvSpPr/>
          <p:nvPr/>
        </p:nvSpPr>
        <p:spPr>
          <a:xfrm>
            <a:off x="783610" y="2533948"/>
            <a:ext cx="1858023" cy="157460"/>
          </a:xfrm>
          <a:prstGeom prst="rect">
            <a:avLst/>
          </a:prstGeom>
          <a:noFill/>
          <a:ln/>
        </p:spPr>
        <p:txBody>
          <a:bodyPr wrap="none" lIns="0" tIns="0" rIns="0" bIns="0" rtlCol="0" anchor="t"/>
          <a:lstStyle/>
          <a:p>
            <a:pPr algn="l" indent="0" marL="0">
              <a:lnSpc>
                <a:spcPct val="113000"/>
              </a:lnSpc>
              <a:buNone/>
            </a:pPr>
            <a:r>
              <a:rPr lang="en-US" sz="900" dirty="0">
                <a:solidFill>
                  <a:srgbClr val="4C4C4D"/>
                </a:solidFill>
                <a:latin typeface="Heebo" pitchFamily="34" charset="0"/>
                <a:ea typeface="Heebo" pitchFamily="34" charset="-122"/>
                <a:cs typeface="Heebo" pitchFamily="34" charset="-120"/>
              </a:rPr>
              <a:t>Baja Actividad</a:t>
            </a:r>
            <a:endParaRPr lang="en-US" sz="900" dirty="0"/>
          </a:p>
        </p:txBody>
      </p:sp>
      <p:sp>
        <p:nvSpPr>
          <p:cNvPr id="36" name="Text 34"/>
          <p:cNvSpPr/>
          <p:nvPr/>
        </p:nvSpPr>
        <p:spPr>
          <a:xfrm>
            <a:off x="2263421" y="2533948"/>
            <a:ext cx="1858023" cy="157460"/>
          </a:xfrm>
          <a:prstGeom prst="rect">
            <a:avLst/>
          </a:prstGeom>
          <a:noFill/>
          <a:ln/>
        </p:spPr>
        <p:txBody>
          <a:bodyPr wrap="none" lIns="0" tIns="0" rIns="0" bIns="0" rtlCol="0" anchor="t"/>
          <a:lstStyle/>
          <a:p>
            <a:pPr algn="l" indent="0" marL="0">
              <a:lnSpc>
                <a:spcPct val="113000"/>
              </a:lnSpc>
              <a:buNone/>
            </a:pPr>
            <a:r>
              <a:rPr lang="en-US" sz="900" dirty="0">
                <a:solidFill>
                  <a:srgbClr val="4C4C4D"/>
                </a:solidFill>
                <a:latin typeface="Heebo" pitchFamily="34" charset="0"/>
                <a:ea typeface="Heebo" pitchFamily="34" charset="-122"/>
                <a:cs typeface="Heebo" pitchFamily="34" charset="-120"/>
              </a:rPr>
              <a:t>1,206</a:t>
            </a:r>
            <a:endParaRPr lang="en-US" sz="900" dirty="0"/>
          </a:p>
        </p:txBody>
      </p:sp>
      <p:sp>
        <p:nvSpPr>
          <p:cNvPr id="37" name="Text 35"/>
          <p:cNvSpPr/>
          <p:nvPr/>
        </p:nvSpPr>
        <p:spPr>
          <a:xfrm>
            <a:off x="3743231" y="2533948"/>
            <a:ext cx="1858023" cy="157460"/>
          </a:xfrm>
          <a:prstGeom prst="rect">
            <a:avLst/>
          </a:prstGeom>
          <a:noFill/>
          <a:ln/>
        </p:spPr>
        <p:txBody>
          <a:bodyPr wrap="none" lIns="0" tIns="0" rIns="0" bIns="0" rtlCol="0" anchor="t"/>
          <a:lstStyle/>
          <a:p>
            <a:pPr algn="l" indent="0" marL="0">
              <a:lnSpc>
                <a:spcPct val="113000"/>
              </a:lnSpc>
              <a:buNone/>
            </a:pPr>
            <a:r>
              <a:rPr lang="en-US" sz="900" dirty="0">
                <a:solidFill>
                  <a:srgbClr val="4C4C4D"/>
                </a:solidFill>
                <a:latin typeface="Heebo" pitchFamily="34" charset="0"/>
                <a:ea typeface="Heebo" pitchFamily="34" charset="-122"/>
                <a:cs typeface="Heebo" pitchFamily="34" charset="-120"/>
              </a:rPr>
              <a:t>40%</a:t>
            </a:r>
            <a:endParaRPr lang="en-US" sz="900" dirty="0"/>
          </a:p>
        </p:txBody>
      </p:sp>
      <p:sp>
        <p:nvSpPr>
          <p:cNvPr id="38" name="Text 36"/>
          <p:cNvSpPr/>
          <p:nvPr/>
        </p:nvSpPr>
        <p:spPr>
          <a:xfrm>
            <a:off x="5223042" y="2533948"/>
            <a:ext cx="1858023" cy="157460"/>
          </a:xfrm>
          <a:prstGeom prst="rect">
            <a:avLst/>
          </a:prstGeom>
          <a:noFill/>
          <a:ln/>
        </p:spPr>
        <p:txBody>
          <a:bodyPr wrap="none" lIns="0" tIns="0" rIns="0" bIns="0" rtlCol="0" anchor="t"/>
          <a:lstStyle/>
          <a:p>
            <a:pPr algn="l" indent="0" marL="0">
              <a:lnSpc>
                <a:spcPct val="113000"/>
              </a:lnSpc>
              <a:buNone/>
            </a:pPr>
            <a:r>
              <a:rPr lang="en-US" sz="900" dirty="0">
                <a:solidFill>
                  <a:srgbClr val="4C4C4D"/>
                </a:solidFill>
                <a:latin typeface="Heebo" pitchFamily="34" charset="0"/>
                <a:ea typeface="Heebo" pitchFamily="34" charset="-122"/>
                <a:cs typeface="Heebo" pitchFamily="34" charset="-120"/>
              </a:rPr>
              <a:t>3.2%</a:t>
            </a:r>
            <a:endParaRPr lang="en-US" sz="900" dirty="0"/>
          </a:p>
        </p:txBody>
      </p:sp>
      <p:sp>
        <p:nvSpPr>
          <p:cNvPr id="39" name="Text 37"/>
          <p:cNvSpPr/>
          <p:nvPr/>
        </p:nvSpPr>
        <p:spPr>
          <a:xfrm>
            <a:off x="6702853" y="2533948"/>
            <a:ext cx="1858023" cy="157460"/>
          </a:xfrm>
          <a:prstGeom prst="rect">
            <a:avLst/>
          </a:prstGeom>
          <a:noFill/>
          <a:ln/>
        </p:spPr>
        <p:txBody>
          <a:bodyPr wrap="none" lIns="0" tIns="0" rIns="0" bIns="0" rtlCol="0" anchor="t"/>
          <a:lstStyle/>
          <a:p>
            <a:pPr algn="l" indent="0" marL="0">
              <a:lnSpc>
                <a:spcPct val="113000"/>
              </a:lnSpc>
              <a:buNone/>
            </a:pPr>
            <a:r>
              <a:rPr lang="en-US" sz="900" dirty="0">
                <a:solidFill>
                  <a:srgbClr val="4C4C4D"/>
                </a:solidFill>
                <a:latin typeface="Heebo" pitchFamily="34" charset="0"/>
                <a:ea typeface="Heebo" pitchFamily="34" charset="-122"/>
                <a:cs typeface="Heebo" pitchFamily="34" charset="-120"/>
              </a:rPr>
              <a:t>2.2%</a:t>
            </a:r>
            <a:endParaRPr lang="en-US" sz="900" dirty="0"/>
          </a:p>
        </p:txBody>
      </p:sp>
      <p:pic>
        <p:nvPicPr>
          <p:cNvPr id="40" name="Image 0" descr="preencoded.png">    </p:cNvPr>
          <p:cNvPicPr>
            <a:picLocks noChangeAspect="1"/>
          </p:cNvPicPr>
          <p:nvPr/>
        </p:nvPicPr>
        <p:blipFill>
          <a:blip r:embed="rId1"/>
          <a:stretch>
            <a:fillRect/>
          </a:stretch>
        </p:blipFill>
        <p:spPr>
          <a:xfrm>
            <a:off x="661475" y="2843808"/>
            <a:ext cx="5922517" cy="2940348"/>
          </a:xfrm>
          <a:prstGeom prst="rect">
            <a:avLst/>
          </a:prstGeom>
        </p:spPr>
      </p:pic>
      <p:sp>
        <p:nvSpPr>
          <p:cNvPr id="41" name="Text 38"/>
          <p:cNvSpPr/>
          <p:nvPr/>
        </p:nvSpPr>
        <p:spPr>
          <a:xfrm>
            <a:off x="661475" y="5875238"/>
            <a:ext cx="7411852" cy="314920"/>
          </a:xfrm>
          <a:prstGeom prst="rect">
            <a:avLst/>
          </a:prstGeom>
          <a:noFill/>
          <a:ln/>
        </p:spPr>
        <p:txBody>
          <a:bodyPr wrap="square" lIns="0" tIns="0" rIns="0" bIns="0" rtlCol="0" anchor="t">
            <a:normAutofit/>
          </a:bodyPr>
          <a:lstStyle/>
          <a:p>
            <a:pPr algn="l" indent="0" marL="0">
              <a:lnSpc>
                <a:spcPct val="113000"/>
              </a:lnSpc>
              <a:buNone/>
            </a:pPr>
            <a:r>
              <a:rPr lang="en-US" sz="900" b="1" dirty="0">
                <a:solidFill>
                  <a:srgbClr val="4C4C4D"/>
                </a:solidFill>
                <a:latin typeface="Heebo Bold" pitchFamily="34" charset="0"/>
                <a:ea typeface="Heebo Bold" pitchFamily="34" charset="-122"/>
                <a:cs typeface="Heebo Bold" pitchFamily="34" charset="-120"/>
              </a:rPr>
              <a:t>*La distribución evidencia que no todos los comercios aportan el mismo valor, por lo que segmentarlos permite asignar mejor los esfuerzos comerciales.</a:t>
            </a:r>
            <a:endParaRPr lang="en-US" sz="900" dirty="0"/>
          </a:p>
        </p:txBody>
      </p:sp>
      <p:sp>
        <p:nvSpPr>
          <p:cNvPr id="42" name="Shape 39"/>
          <p:cNvSpPr/>
          <p:nvPr/>
        </p:nvSpPr>
        <p:spPr>
          <a:xfrm>
            <a:off x="8278705" y="1286570"/>
            <a:ext cx="3341108" cy="4976515"/>
          </a:xfrm>
          <a:prstGeom prst="roundRect">
            <a:avLst>
              <a:gd name="adj" fmla="val 520"/>
            </a:avLst>
          </a:prstGeom>
          <a:solidFill>
            <a:srgbClr val="6F24B1"/>
          </a:solidFill>
          <a:ln/>
        </p:spPr>
      </p:sp>
      <p:sp>
        <p:nvSpPr>
          <p:cNvPr id="43" name="Text 40"/>
          <p:cNvSpPr/>
          <p:nvPr/>
        </p:nvSpPr>
        <p:spPr>
          <a:xfrm>
            <a:off x="8394391" y="1367532"/>
            <a:ext cx="3109735" cy="499269"/>
          </a:xfrm>
          <a:prstGeom prst="rect">
            <a:avLst/>
          </a:prstGeom>
          <a:noFill/>
          <a:ln/>
        </p:spPr>
        <p:txBody>
          <a:bodyPr wrap="none" lIns="0" tIns="0" rIns="0" bIns="0" rtlCol="0" anchor="t"/>
          <a:lstStyle/>
          <a:p>
            <a:pPr algn="l" indent="0" marL="0">
              <a:lnSpc>
                <a:spcPct val="104000"/>
              </a:lnSpc>
              <a:buNone/>
            </a:pPr>
            <a:r>
              <a:rPr lang="en-US" sz="3100" dirty="0">
                <a:solidFill>
                  <a:srgbClr val="FFFFFF"/>
                </a:solidFill>
                <a:latin typeface="Crimson Pro SemiBold" pitchFamily="34" charset="0"/>
                <a:ea typeface="Crimson Pro SemiBold" pitchFamily="34" charset="-122"/>
                <a:cs typeface="Crimson Pro SemiBold" pitchFamily="34" charset="-120"/>
              </a:rPr>
              <a:t>10%</a:t>
            </a:r>
            <a:endParaRPr lang="en-US" sz="3100" dirty="0"/>
          </a:p>
        </p:txBody>
      </p:sp>
      <p:sp>
        <p:nvSpPr>
          <p:cNvPr id="44" name="Text 41"/>
          <p:cNvSpPr/>
          <p:nvPr/>
        </p:nvSpPr>
        <p:spPr>
          <a:xfrm>
            <a:off x="8394391" y="1947763"/>
            <a:ext cx="3109735" cy="289421"/>
          </a:xfrm>
          <a:prstGeom prst="rect">
            <a:avLst/>
          </a:prstGeom>
          <a:noFill/>
          <a:ln/>
        </p:spPr>
        <p:txBody>
          <a:bodyPr wrap="none" lIns="0" tIns="0" rIns="0" bIns="0" rtlCol="0" anchor="t"/>
          <a:lstStyle/>
          <a:p>
            <a:pPr algn="l" indent="0" marL="0">
              <a:lnSpc>
                <a:spcPct val="104000"/>
              </a:lnSpc>
              <a:buNone/>
            </a:pPr>
            <a:r>
              <a:rPr lang="en-US" sz="1800" dirty="0">
                <a:solidFill>
                  <a:srgbClr val="FFFFFF"/>
                </a:solidFill>
                <a:latin typeface="Crimson Pro SemiBold" pitchFamily="34" charset="0"/>
                <a:ea typeface="Crimson Pro SemiBold" pitchFamily="34" charset="-122"/>
                <a:cs typeface="Crimson Pro SemiBold" pitchFamily="34" charset="-120"/>
              </a:rPr>
              <a:t>de comercios</a:t>
            </a:r>
            <a:endParaRPr lang="en-US" sz="1800" dirty="0"/>
          </a:p>
        </p:txBody>
      </p:sp>
      <p:sp>
        <p:nvSpPr>
          <p:cNvPr id="45" name="Shape 42"/>
          <p:cNvSpPr/>
          <p:nvPr/>
        </p:nvSpPr>
        <p:spPr>
          <a:xfrm>
            <a:off x="8394391" y="2357140"/>
            <a:ext cx="3109735" cy="12700"/>
          </a:xfrm>
          <a:prstGeom prst="roundRect">
            <a:avLst>
              <a:gd name="adj" fmla="val 49999"/>
            </a:avLst>
          </a:prstGeom>
          <a:solidFill>
            <a:srgbClr val="FFFFFF">
              <a:alpha val="50000"/>
            </a:srgbClr>
          </a:solidFill>
          <a:ln/>
        </p:spPr>
      </p:sp>
      <p:sp>
        <p:nvSpPr>
          <p:cNvPr id="46" name="Text 43"/>
          <p:cNvSpPr/>
          <p:nvPr/>
        </p:nvSpPr>
        <p:spPr>
          <a:xfrm>
            <a:off x="8394391" y="2489795"/>
            <a:ext cx="3109735" cy="499269"/>
          </a:xfrm>
          <a:prstGeom prst="rect">
            <a:avLst/>
          </a:prstGeom>
          <a:noFill/>
          <a:ln/>
        </p:spPr>
        <p:txBody>
          <a:bodyPr wrap="none" lIns="0" tIns="0" rIns="0" bIns="0" rtlCol="0" anchor="t"/>
          <a:lstStyle/>
          <a:p>
            <a:pPr algn="l" indent="0" marL="0">
              <a:lnSpc>
                <a:spcPct val="104000"/>
              </a:lnSpc>
              <a:buNone/>
            </a:pPr>
            <a:r>
              <a:rPr lang="en-US" sz="3100" dirty="0">
                <a:solidFill>
                  <a:srgbClr val="FFFFFF"/>
                </a:solidFill>
                <a:latin typeface="Crimson Pro SemiBold" pitchFamily="34" charset="0"/>
                <a:ea typeface="Crimson Pro SemiBold" pitchFamily="34" charset="-122"/>
                <a:cs typeface="Crimson Pro SemiBold" pitchFamily="34" charset="-120"/>
              </a:rPr>
              <a:t>≈48%</a:t>
            </a:r>
            <a:endParaRPr lang="en-US" sz="3100" dirty="0"/>
          </a:p>
        </p:txBody>
      </p:sp>
      <p:sp>
        <p:nvSpPr>
          <p:cNvPr id="47" name="Text 44"/>
          <p:cNvSpPr/>
          <p:nvPr/>
        </p:nvSpPr>
        <p:spPr>
          <a:xfrm>
            <a:off x="8394391" y="3070027"/>
            <a:ext cx="3109735" cy="289421"/>
          </a:xfrm>
          <a:prstGeom prst="rect">
            <a:avLst/>
          </a:prstGeom>
          <a:noFill/>
          <a:ln/>
        </p:spPr>
        <p:txBody>
          <a:bodyPr wrap="none" lIns="0" tIns="0" rIns="0" bIns="0" rtlCol="0" anchor="t"/>
          <a:lstStyle/>
          <a:p>
            <a:pPr algn="l" indent="0" marL="0">
              <a:lnSpc>
                <a:spcPct val="104000"/>
              </a:lnSpc>
              <a:buNone/>
            </a:pPr>
            <a:r>
              <a:rPr lang="en-US" sz="1800" dirty="0">
                <a:solidFill>
                  <a:srgbClr val="FFFFFF"/>
                </a:solidFill>
                <a:latin typeface="Crimson Pro SemiBold" pitchFamily="34" charset="0"/>
                <a:ea typeface="Crimson Pro SemiBold" pitchFamily="34" charset="-122"/>
                <a:cs typeface="Crimson Pro SemiBold" pitchFamily="34" charset="-120"/>
              </a:rPr>
              <a:t>de las ventas totales</a:t>
            </a:r>
            <a:endParaRPr lang="en-US" sz="1800" dirty="0"/>
          </a:p>
        </p:txBody>
      </p:sp>
      <p:sp>
        <p:nvSpPr>
          <p:cNvPr id="48" name="Shape 45"/>
          <p:cNvSpPr/>
          <p:nvPr/>
        </p:nvSpPr>
        <p:spPr>
          <a:xfrm>
            <a:off x="8394391" y="3479403"/>
            <a:ext cx="3109735" cy="12700"/>
          </a:xfrm>
          <a:prstGeom prst="roundRect">
            <a:avLst>
              <a:gd name="adj" fmla="val 49999"/>
            </a:avLst>
          </a:prstGeom>
          <a:solidFill>
            <a:srgbClr val="FFFFFF">
              <a:alpha val="50000"/>
            </a:srgbClr>
          </a:solidFill>
          <a:ln/>
        </p:spPr>
      </p:sp>
      <p:sp>
        <p:nvSpPr>
          <p:cNvPr id="49" name="Shape 46"/>
          <p:cNvSpPr/>
          <p:nvPr/>
        </p:nvSpPr>
        <p:spPr>
          <a:xfrm>
            <a:off x="8394391" y="3612059"/>
            <a:ext cx="3109735" cy="1778397"/>
          </a:xfrm>
          <a:prstGeom prst="roundRect">
            <a:avLst>
              <a:gd name="adj" fmla="val 977"/>
            </a:avLst>
          </a:prstGeom>
          <a:solidFill>
            <a:srgbClr val="3F1464"/>
          </a:solidFill>
          <a:ln/>
        </p:spPr>
      </p:sp>
      <p:pic>
        <p:nvPicPr>
          <p:cNvPr id="50" name="Image 1" descr="preencoded.png">    </p:cNvPr>
          <p:cNvPicPr>
            <a:picLocks noChangeAspect="1"/>
          </p:cNvPicPr>
          <p:nvPr/>
        </p:nvPicPr>
        <p:blipFill>
          <a:blip r:embed="rId2"/>
          <a:stretch>
            <a:fillRect/>
          </a:stretch>
        </p:blipFill>
        <p:spPr>
          <a:xfrm>
            <a:off x="8510077" y="3726954"/>
            <a:ext cx="180871" cy="144661"/>
          </a:xfrm>
          <a:prstGeom prst="rect">
            <a:avLst/>
          </a:prstGeom>
        </p:spPr>
      </p:pic>
      <p:sp>
        <p:nvSpPr>
          <p:cNvPr id="51" name="Text 47"/>
          <p:cNvSpPr/>
          <p:nvPr/>
        </p:nvSpPr>
        <p:spPr>
          <a:xfrm>
            <a:off x="8806634" y="3713857"/>
            <a:ext cx="2581806" cy="1574800"/>
          </a:xfrm>
          <a:prstGeom prst="rect">
            <a:avLst/>
          </a:prstGeom>
          <a:noFill/>
          <a:ln/>
        </p:spPr>
        <p:txBody>
          <a:bodyPr wrap="square" lIns="0" tIns="0" rIns="0" bIns="0" rtlCol="0" anchor="t">
            <a:normAutofit/>
          </a:bodyPr>
          <a:lstStyle/>
          <a:p>
            <a:pPr algn="l" indent="0" marL="0">
              <a:lnSpc>
                <a:spcPct val="113000"/>
              </a:lnSpc>
              <a:buNone/>
            </a:pPr>
            <a:r>
              <a:rPr lang="en-US" sz="1100" dirty="0">
                <a:solidFill>
                  <a:srgbClr val="FFFFFF"/>
                </a:solidFill>
                <a:latin typeface="Heebo" pitchFamily="34" charset="0"/>
                <a:ea typeface="Heebo" pitchFamily="34" charset="-122"/>
                <a:cs typeface="Heebo" pitchFamily="34" charset="-120"/>
              </a:rPr>
              <a:t>El segmento Estratégico reúne pocos comercios, pero concentra la mayor generación de ingresos. Esto sugiere que las estrategias de fidelización deben enfocarse inicialmente en este grupo, mientras que Alto Potencial representa la principal oportunidad de crecimiento.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570309"/>
            <a:ext cx="1130768" cy="213717"/>
          </a:xfrm>
          <a:prstGeom prst="roundRect">
            <a:avLst>
              <a:gd name="adj" fmla="val 7894"/>
            </a:avLst>
          </a:prstGeom>
          <a:noFill/>
          <a:ln w="6350">
            <a:solidFill>
              <a:srgbClr val="A034FE"/>
            </a:solidFill>
            <a:prstDash val="solid"/>
          </a:ln>
        </p:spPr>
      </p:sp>
      <p:sp>
        <p:nvSpPr>
          <p:cNvPr id="3" name="Text 1"/>
          <p:cNvSpPr/>
          <p:nvPr/>
        </p:nvSpPr>
        <p:spPr>
          <a:xfrm>
            <a:off x="745809" y="612477"/>
            <a:ext cx="1571685" cy="129381"/>
          </a:xfrm>
          <a:prstGeom prst="rect">
            <a:avLst/>
          </a:prstGeom>
          <a:noFill/>
          <a:ln/>
        </p:spPr>
        <p:txBody>
          <a:bodyPr wrap="none" lIns="0" tIns="0" rIns="0" bIns="0" rtlCol="0" anchor="t"/>
          <a:lstStyle/>
          <a:p>
            <a:pPr algn="l" indent="0" marL="0">
              <a:lnSpc>
                <a:spcPct val="96000"/>
              </a:lnSpc>
              <a:buNone/>
            </a:pPr>
            <a:r>
              <a:rPr lang="en-US" sz="850" dirty="0">
                <a:solidFill>
                  <a:srgbClr val="A034FE"/>
                </a:solidFill>
                <a:latin typeface="Heebo" pitchFamily="34" charset="0"/>
                <a:ea typeface="Heebo" pitchFamily="34" charset="-122"/>
                <a:cs typeface="Heebo" pitchFamily="34" charset="-120"/>
              </a:rPr>
              <a:t>IMPLEMENTACIÓN</a:t>
            </a:r>
            <a:endParaRPr lang="en-US" sz="850" dirty="0"/>
          </a:p>
        </p:txBody>
      </p:sp>
      <p:sp>
        <p:nvSpPr>
          <p:cNvPr id="4" name="Text 2"/>
          <p:cNvSpPr/>
          <p:nvPr/>
        </p:nvSpPr>
        <p:spPr>
          <a:xfrm>
            <a:off x="661475" y="831751"/>
            <a:ext cx="10868745" cy="439241"/>
          </a:xfrm>
          <a:prstGeom prst="rect">
            <a:avLst/>
          </a:prstGeom>
          <a:noFill/>
          <a:ln/>
        </p:spPr>
        <p:txBody>
          <a:bodyPr wrap="none" lIns="0" tIns="0" rIns="0" bIns="0" rtlCol="0" anchor="t"/>
          <a:lstStyle/>
          <a:p>
            <a:pPr algn="l" indent="0" marL="0">
              <a:lnSpc>
                <a:spcPct val="104000"/>
              </a:lnSpc>
              <a:buNone/>
            </a:pPr>
            <a:r>
              <a:rPr lang="en-US" sz="2750" dirty="0">
                <a:solidFill>
                  <a:srgbClr val="3F1464"/>
                </a:solidFill>
                <a:latin typeface="Crimson Pro SemiBold" pitchFamily="34" charset="0"/>
                <a:ea typeface="Crimson Pro SemiBold" pitchFamily="34" charset="-122"/>
                <a:cs typeface="Crimson Pro SemiBold" pitchFamily="34" charset="-120"/>
              </a:rPr>
              <a:t>Del análisis a la toma de decisiones</a:t>
            </a:r>
            <a:endParaRPr lang="en-US" sz="2750" dirty="0"/>
          </a:p>
        </p:txBody>
      </p:sp>
      <p:sp>
        <p:nvSpPr>
          <p:cNvPr id="5" name="Text 3"/>
          <p:cNvSpPr/>
          <p:nvPr/>
        </p:nvSpPr>
        <p:spPr>
          <a:xfrm>
            <a:off x="661475" y="1569641"/>
            <a:ext cx="5038599" cy="219571"/>
          </a:xfrm>
          <a:prstGeom prst="rect">
            <a:avLst/>
          </a:prstGeom>
          <a:noFill/>
          <a:ln/>
        </p:spPr>
        <p:txBody>
          <a:bodyPr wrap="none" lIns="0" tIns="0" rIns="0" bIns="0" rtlCol="0" anchor="t"/>
          <a:lstStyle/>
          <a:p>
            <a:pPr algn="l" indent="0" marL="0">
              <a:lnSpc>
                <a:spcPct val="104000"/>
              </a:lnSpc>
              <a:buNone/>
            </a:pPr>
            <a:r>
              <a:rPr lang="en-US" sz="1350" dirty="0">
                <a:solidFill>
                  <a:srgbClr val="3F1464"/>
                </a:solidFill>
                <a:latin typeface="Crimson Pro SemiBold" pitchFamily="34" charset="0"/>
                <a:ea typeface="Crimson Pro SemiBold" pitchFamily="34" charset="-122"/>
                <a:cs typeface="Crimson Pro SemiBold" pitchFamily="34" charset="-120"/>
              </a:rPr>
              <a:t>Dashboard ejecutivo de seguimiento</a:t>
            </a:r>
            <a:endParaRPr lang="en-US" sz="1350" dirty="0"/>
          </a:p>
        </p:txBody>
      </p:sp>
      <p:sp>
        <p:nvSpPr>
          <p:cNvPr id="6" name="Text 4"/>
          <p:cNvSpPr/>
          <p:nvPr/>
        </p:nvSpPr>
        <p:spPr>
          <a:xfrm>
            <a:off x="661475" y="1908671"/>
            <a:ext cx="5038599"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4C4C4D"/>
                </a:solidFill>
                <a:latin typeface="Heebo" pitchFamily="34" charset="0"/>
                <a:ea typeface="Heebo" pitchFamily="34" charset="-122"/>
                <a:cs typeface="Heebo" pitchFamily="34" charset="-120"/>
              </a:rPr>
              <a:t>Como resultado del proceso de segmentación, desarrollé un tablero ejecutivo que consolida los principales indicadores del negocio y permite monitorear el desempeño comercial de forma continua.</a:t>
            </a:r>
            <a:endParaRPr lang="en-US" sz="1100" dirty="0"/>
          </a:p>
        </p:txBody>
      </p:sp>
      <p:sp>
        <p:nvSpPr>
          <p:cNvPr id="7" name="Shape 5"/>
          <p:cNvSpPr/>
          <p:nvPr/>
        </p:nvSpPr>
        <p:spPr>
          <a:xfrm>
            <a:off x="661475" y="2667198"/>
            <a:ext cx="2459571" cy="1993404"/>
          </a:xfrm>
          <a:prstGeom prst="roundRect">
            <a:avLst>
              <a:gd name="adj" fmla="val 1058"/>
            </a:avLst>
          </a:prstGeom>
          <a:solidFill>
            <a:srgbClr val="F2EEEE"/>
          </a:solidFill>
          <a:ln/>
        </p:spPr>
      </p:sp>
      <p:sp>
        <p:nvSpPr>
          <p:cNvPr id="8" name="Shape 6"/>
          <p:cNvSpPr/>
          <p:nvPr/>
        </p:nvSpPr>
        <p:spPr>
          <a:xfrm>
            <a:off x="801965" y="2807692"/>
            <a:ext cx="421669" cy="421680"/>
          </a:xfrm>
          <a:prstGeom prst="ellipse">
            <a:avLst/>
          </a:prstGeom>
          <a:solidFill>
            <a:srgbClr val="A034FE"/>
          </a:solidFill>
          <a:ln/>
        </p:spPr>
      </p:sp>
      <p:sp>
        <p:nvSpPr>
          <p:cNvPr id="9" name="Text 7"/>
          <p:cNvSpPr/>
          <p:nvPr/>
        </p:nvSpPr>
        <p:spPr>
          <a:xfrm>
            <a:off x="917949" y="2899866"/>
            <a:ext cx="189702" cy="237232"/>
          </a:xfrm>
          <a:prstGeom prst="rect">
            <a:avLst/>
          </a:prstGeom>
          <a:noFill/>
          <a:ln/>
        </p:spPr>
        <p:txBody>
          <a:bodyPr wrap="none" lIns="0" tIns="0" rIns="0" bIns="0" rtlCol="0" anchor="ctr"/>
          <a:lstStyle/>
          <a:p>
            <a:pPr algn="ctr" indent="0" marL="0">
              <a:lnSpc>
                <a:spcPct val="100000"/>
              </a:lnSpc>
              <a:buNone/>
            </a:pPr>
            <a:r>
              <a:rPr lang="en-US" sz="1450" dirty="0">
                <a:solidFill>
                  <a:srgbClr val="FFFFFF"/>
                </a:solidFill>
                <a:latin typeface="Crimson Pro SemiBold" pitchFamily="34" charset="0"/>
                <a:ea typeface="Crimson Pro SemiBold" pitchFamily="34" charset="-122"/>
                <a:cs typeface="Crimson Pro SemiBold" pitchFamily="34" charset="-120"/>
              </a:rPr>
              <a:t>1</a:t>
            </a:r>
            <a:endParaRPr lang="en-US" sz="1450" dirty="0"/>
          </a:p>
        </p:txBody>
      </p:sp>
      <p:sp>
        <p:nvSpPr>
          <p:cNvPr id="10" name="Text 8"/>
          <p:cNvSpPr/>
          <p:nvPr/>
        </p:nvSpPr>
        <p:spPr>
          <a:xfrm>
            <a:off x="801965" y="3348831"/>
            <a:ext cx="2178591" cy="219571"/>
          </a:xfrm>
          <a:prstGeom prst="rect">
            <a:avLst/>
          </a:prstGeom>
          <a:noFill/>
          <a:ln/>
        </p:spPr>
        <p:txBody>
          <a:bodyPr wrap="none" lIns="0" tIns="0" rIns="0" bIns="0" rtlCol="0" anchor="t"/>
          <a:lstStyle/>
          <a:p>
            <a:pPr algn="l"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Ritmo comercial</a:t>
            </a:r>
            <a:endParaRPr lang="en-US" sz="1350" dirty="0"/>
          </a:p>
        </p:txBody>
      </p:sp>
      <p:sp>
        <p:nvSpPr>
          <p:cNvPr id="11" name="Text 9"/>
          <p:cNvSpPr/>
          <p:nvPr/>
        </p:nvSpPr>
        <p:spPr>
          <a:xfrm>
            <a:off x="801965" y="3687862"/>
            <a:ext cx="2178591" cy="832247"/>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4C4C4D"/>
                </a:solidFill>
                <a:latin typeface="Heebo" pitchFamily="34" charset="0"/>
                <a:ea typeface="Heebo" pitchFamily="34" charset="-122"/>
                <a:cs typeface="Heebo" pitchFamily="34" charset="-120"/>
              </a:rPr>
              <a:t>Seguimiento de la evolución de las ventas, comisiones y actividad transaccional para evaluar el comportamiento del negocio.</a:t>
            </a:r>
            <a:endParaRPr lang="en-US" sz="1100" dirty="0"/>
          </a:p>
        </p:txBody>
      </p:sp>
      <p:sp>
        <p:nvSpPr>
          <p:cNvPr id="12" name="Shape 10"/>
          <p:cNvSpPr/>
          <p:nvPr/>
        </p:nvSpPr>
        <p:spPr>
          <a:xfrm>
            <a:off x="3240503" y="2667198"/>
            <a:ext cx="2459571" cy="1993404"/>
          </a:xfrm>
          <a:prstGeom prst="roundRect">
            <a:avLst>
              <a:gd name="adj" fmla="val 1058"/>
            </a:avLst>
          </a:prstGeom>
          <a:solidFill>
            <a:srgbClr val="F2EEEE"/>
          </a:solidFill>
          <a:ln/>
        </p:spPr>
      </p:sp>
      <p:sp>
        <p:nvSpPr>
          <p:cNvPr id="13" name="Shape 11"/>
          <p:cNvSpPr/>
          <p:nvPr/>
        </p:nvSpPr>
        <p:spPr>
          <a:xfrm>
            <a:off x="3380993" y="2807692"/>
            <a:ext cx="421669" cy="421680"/>
          </a:xfrm>
          <a:prstGeom prst="ellipse">
            <a:avLst/>
          </a:prstGeom>
          <a:solidFill>
            <a:srgbClr val="A034FE"/>
          </a:solidFill>
          <a:ln/>
        </p:spPr>
      </p:sp>
      <p:sp>
        <p:nvSpPr>
          <p:cNvPr id="14" name="Text 12"/>
          <p:cNvSpPr/>
          <p:nvPr/>
        </p:nvSpPr>
        <p:spPr>
          <a:xfrm>
            <a:off x="3496977" y="2899866"/>
            <a:ext cx="189702" cy="237232"/>
          </a:xfrm>
          <a:prstGeom prst="rect">
            <a:avLst/>
          </a:prstGeom>
          <a:noFill/>
          <a:ln/>
        </p:spPr>
        <p:txBody>
          <a:bodyPr wrap="none" lIns="0" tIns="0" rIns="0" bIns="0" rtlCol="0" anchor="ctr"/>
          <a:lstStyle/>
          <a:p>
            <a:pPr algn="ctr" indent="0" marL="0">
              <a:lnSpc>
                <a:spcPct val="100000"/>
              </a:lnSpc>
              <a:buNone/>
            </a:pPr>
            <a:r>
              <a:rPr lang="en-US" sz="1450" dirty="0">
                <a:solidFill>
                  <a:srgbClr val="FFFFFF"/>
                </a:solidFill>
                <a:latin typeface="Crimson Pro SemiBold" pitchFamily="34" charset="0"/>
                <a:ea typeface="Crimson Pro SemiBold" pitchFamily="34" charset="-122"/>
                <a:cs typeface="Crimson Pro SemiBold" pitchFamily="34" charset="-120"/>
              </a:rPr>
              <a:t>2</a:t>
            </a:r>
            <a:endParaRPr lang="en-US" sz="1450" dirty="0"/>
          </a:p>
        </p:txBody>
      </p:sp>
      <p:sp>
        <p:nvSpPr>
          <p:cNvPr id="15" name="Text 13"/>
          <p:cNvSpPr/>
          <p:nvPr/>
        </p:nvSpPr>
        <p:spPr>
          <a:xfrm>
            <a:off x="3380993" y="3348831"/>
            <a:ext cx="2178591" cy="219571"/>
          </a:xfrm>
          <a:prstGeom prst="rect">
            <a:avLst/>
          </a:prstGeom>
          <a:noFill/>
          <a:ln/>
        </p:spPr>
        <p:txBody>
          <a:bodyPr wrap="none" lIns="0" tIns="0" rIns="0" bIns="0" rtlCol="0" anchor="t"/>
          <a:lstStyle/>
          <a:p>
            <a:pPr algn="l"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Priorización</a:t>
            </a:r>
            <a:endParaRPr lang="en-US" sz="1350" dirty="0"/>
          </a:p>
        </p:txBody>
      </p:sp>
      <p:sp>
        <p:nvSpPr>
          <p:cNvPr id="16" name="Text 14"/>
          <p:cNvSpPr/>
          <p:nvPr/>
        </p:nvSpPr>
        <p:spPr>
          <a:xfrm>
            <a:off x="3380993" y="3687862"/>
            <a:ext cx="2178591" cy="832247"/>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4C4C4D"/>
                </a:solidFill>
                <a:latin typeface="Heebo" pitchFamily="34" charset="0"/>
                <a:ea typeface="Heebo" pitchFamily="34" charset="-122"/>
                <a:cs typeface="Heebo" pitchFamily="34" charset="-120"/>
              </a:rPr>
              <a:t>Comparación del desempeño de los segmentos para identificar oportunidades comerciales y orientar campañas de marketing.</a:t>
            </a:r>
            <a:endParaRPr lang="en-US" sz="1100" dirty="0"/>
          </a:p>
        </p:txBody>
      </p:sp>
      <p:sp>
        <p:nvSpPr>
          <p:cNvPr id="17" name="Shape 15"/>
          <p:cNvSpPr/>
          <p:nvPr/>
        </p:nvSpPr>
        <p:spPr>
          <a:xfrm>
            <a:off x="661475" y="4794945"/>
            <a:ext cx="5038599" cy="909340"/>
          </a:xfrm>
          <a:prstGeom prst="roundRect">
            <a:avLst>
              <a:gd name="adj" fmla="val 2319"/>
            </a:avLst>
          </a:prstGeom>
          <a:solidFill>
            <a:srgbClr val="E7CCFF"/>
          </a:solidFill>
          <a:ln/>
        </p:spPr>
      </p:sp>
      <p:pic>
        <p:nvPicPr>
          <p:cNvPr id="18" name="Image 0" descr="preencoded.png">    </p:cNvPr>
          <p:cNvPicPr>
            <a:picLocks noChangeAspect="1"/>
          </p:cNvPicPr>
          <p:nvPr/>
        </p:nvPicPr>
        <p:blipFill>
          <a:blip r:embed="rId1"/>
          <a:stretch>
            <a:fillRect/>
          </a:stretch>
        </p:blipFill>
        <p:spPr>
          <a:xfrm>
            <a:off x="801965" y="4993680"/>
            <a:ext cx="175712" cy="140494"/>
          </a:xfrm>
          <a:prstGeom prst="rect">
            <a:avLst/>
          </a:prstGeom>
        </p:spPr>
      </p:pic>
      <p:sp>
        <p:nvSpPr>
          <p:cNvPr id="19" name="Text 16"/>
          <p:cNvSpPr/>
          <p:nvPr/>
        </p:nvSpPr>
        <p:spPr>
          <a:xfrm>
            <a:off x="1118167" y="4937522"/>
            <a:ext cx="4441416" cy="624185"/>
          </a:xfrm>
          <a:prstGeom prst="rect">
            <a:avLst/>
          </a:prstGeom>
          <a:noFill/>
          <a:ln/>
        </p:spPr>
        <p:txBody>
          <a:bodyPr wrap="square" lIns="0" tIns="0" rIns="0" bIns="0" rtlCol="0" anchor="t">
            <a:normAutofit/>
          </a:bodyPr>
          <a:lstStyle/>
          <a:p>
            <a:pPr algn="l" indent="0" marL="0">
              <a:lnSpc>
                <a:spcPct val="123000"/>
              </a:lnSpc>
              <a:buNone/>
            </a:pPr>
            <a:r>
              <a:rPr lang="en-US" sz="1100" b="1" dirty="0">
                <a:solidFill>
                  <a:srgbClr val="000000"/>
                </a:solidFill>
                <a:latin typeface="Heebo Bold" pitchFamily="34" charset="0"/>
                <a:ea typeface="Heebo Bold" pitchFamily="34" charset="-122"/>
                <a:cs typeface="Heebo Bold" pitchFamily="34" charset="-120"/>
              </a:rPr>
              <a:t>Valor para el negocio:</a:t>
            </a:r>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 El tablero reúne en un solo lugar las métricas clave del negocio, facilitando el seguimiento de los resultados y apoyando la toma de decisiones basada en datos.</a:t>
            </a:r>
            <a:endParaRPr lang="en-US" sz="1100" dirty="0"/>
          </a:p>
        </p:txBody>
      </p:sp>
      <p:sp>
        <p:nvSpPr>
          <p:cNvPr id="20" name="Text 17"/>
          <p:cNvSpPr/>
          <p:nvPr/>
        </p:nvSpPr>
        <p:spPr>
          <a:xfrm>
            <a:off x="6049315" y="1763117"/>
            <a:ext cx="2668918" cy="219571"/>
          </a:xfrm>
          <a:prstGeom prst="rect">
            <a:avLst/>
          </a:prstGeom>
          <a:noFill/>
          <a:ln/>
        </p:spPr>
        <p:txBody>
          <a:bodyPr wrap="none" lIns="0" tIns="0" rIns="0" bIns="0" rtlCol="0" anchor="t"/>
          <a:lstStyle/>
          <a:p>
            <a:pPr algn="ctr"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Ventas Totales</a:t>
            </a:r>
            <a:endParaRPr lang="en-US" sz="1350" dirty="0"/>
          </a:p>
        </p:txBody>
      </p:sp>
      <p:sp>
        <p:nvSpPr>
          <p:cNvPr id="21" name="Text 18"/>
          <p:cNvSpPr/>
          <p:nvPr/>
        </p:nvSpPr>
        <p:spPr>
          <a:xfrm>
            <a:off x="6049315" y="2102148"/>
            <a:ext cx="2668918" cy="208062"/>
          </a:xfrm>
          <a:prstGeom prst="rect">
            <a:avLst/>
          </a:prstGeom>
          <a:noFill/>
          <a:ln/>
        </p:spPr>
        <p:txBody>
          <a:bodyPr wrap="none" lIns="0" tIns="0" rIns="0" bIns="0" rtlCol="0" anchor="t"/>
          <a:lstStyle/>
          <a:p>
            <a:pPr algn="ctr" indent="0" marL="0">
              <a:lnSpc>
                <a:spcPct val="123000"/>
              </a:lnSpc>
              <a:buNone/>
            </a:pPr>
            <a:r>
              <a:rPr lang="en-US" sz="1100" dirty="0">
                <a:solidFill>
                  <a:srgbClr val="4C4C4D"/>
                </a:solidFill>
                <a:latin typeface="Heebo" pitchFamily="34" charset="0"/>
                <a:ea typeface="Heebo" pitchFamily="34" charset="-122"/>
                <a:cs typeface="Heebo" pitchFamily="34" charset="-120"/>
              </a:rPr>
              <a:t>13,23 mil M</a:t>
            </a:r>
            <a:endParaRPr lang="en-US" sz="1100" dirty="0"/>
          </a:p>
        </p:txBody>
      </p:sp>
      <p:sp>
        <p:nvSpPr>
          <p:cNvPr id="22" name="Shape 19"/>
          <p:cNvSpPr/>
          <p:nvPr/>
        </p:nvSpPr>
        <p:spPr>
          <a:xfrm>
            <a:off x="6030266" y="1584523"/>
            <a:ext cx="2707017" cy="38100"/>
          </a:xfrm>
          <a:prstGeom prst="rect">
            <a:avLst/>
          </a:prstGeom>
          <a:solidFill>
            <a:srgbClr val="A034FE"/>
          </a:solidFill>
          <a:ln/>
        </p:spPr>
      </p:sp>
      <p:sp>
        <p:nvSpPr>
          <p:cNvPr id="23" name="Text 20"/>
          <p:cNvSpPr/>
          <p:nvPr/>
        </p:nvSpPr>
        <p:spPr>
          <a:xfrm>
            <a:off x="8867553" y="1763117"/>
            <a:ext cx="2668918" cy="219571"/>
          </a:xfrm>
          <a:prstGeom prst="rect">
            <a:avLst/>
          </a:prstGeom>
          <a:noFill/>
          <a:ln/>
        </p:spPr>
        <p:txBody>
          <a:bodyPr wrap="none" lIns="0" tIns="0" rIns="0" bIns="0" rtlCol="0" anchor="t"/>
          <a:lstStyle/>
          <a:p>
            <a:pPr algn="ctr"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Comisión Total</a:t>
            </a:r>
            <a:endParaRPr lang="en-US" sz="1350" dirty="0"/>
          </a:p>
        </p:txBody>
      </p:sp>
      <p:sp>
        <p:nvSpPr>
          <p:cNvPr id="24" name="Text 21"/>
          <p:cNvSpPr/>
          <p:nvPr/>
        </p:nvSpPr>
        <p:spPr>
          <a:xfrm>
            <a:off x="8867553" y="2102148"/>
            <a:ext cx="2668918" cy="208062"/>
          </a:xfrm>
          <a:prstGeom prst="rect">
            <a:avLst/>
          </a:prstGeom>
          <a:noFill/>
          <a:ln/>
        </p:spPr>
        <p:txBody>
          <a:bodyPr wrap="none" lIns="0" tIns="0" rIns="0" bIns="0" rtlCol="0" anchor="t"/>
          <a:lstStyle/>
          <a:p>
            <a:pPr algn="ctr" indent="0" marL="0">
              <a:lnSpc>
                <a:spcPct val="123000"/>
              </a:lnSpc>
              <a:buNone/>
            </a:pPr>
            <a:r>
              <a:rPr lang="en-US" sz="1100" dirty="0">
                <a:solidFill>
                  <a:srgbClr val="4C4C4D"/>
                </a:solidFill>
                <a:latin typeface="Heebo" pitchFamily="34" charset="0"/>
                <a:ea typeface="Heebo" pitchFamily="34" charset="-122"/>
                <a:cs typeface="Heebo" pitchFamily="34" charset="-120"/>
              </a:rPr>
              <a:t>661,53 mill.</a:t>
            </a:r>
            <a:endParaRPr lang="en-US" sz="1100" dirty="0"/>
          </a:p>
        </p:txBody>
      </p:sp>
      <p:sp>
        <p:nvSpPr>
          <p:cNvPr id="25" name="Shape 22"/>
          <p:cNvSpPr/>
          <p:nvPr/>
        </p:nvSpPr>
        <p:spPr>
          <a:xfrm>
            <a:off x="8848504" y="1584523"/>
            <a:ext cx="2707017" cy="38100"/>
          </a:xfrm>
          <a:prstGeom prst="rect">
            <a:avLst/>
          </a:prstGeom>
          <a:solidFill>
            <a:srgbClr val="A034FE"/>
          </a:solidFill>
          <a:ln/>
        </p:spPr>
      </p:sp>
      <p:sp>
        <p:nvSpPr>
          <p:cNvPr id="26" name="Text 23"/>
          <p:cNvSpPr/>
          <p:nvPr/>
        </p:nvSpPr>
        <p:spPr>
          <a:xfrm>
            <a:off x="6049315" y="2727722"/>
            <a:ext cx="2668918" cy="219571"/>
          </a:xfrm>
          <a:prstGeom prst="rect">
            <a:avLst/>
          </a:prstGeom>
          <a:noFill/>
          <a:ln/>
        </p:spPr>
        <p:txBody>
          <a:bodyPr wrap="none" lIns="0" tIns="0" rIns="0" bIns="0" rtlCol="0" anchor="t"/>
          <a:lstStyle/>
          <a:p>
            <a:pPr algn="ctr"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Ventas Últ. Mes</a:t>
            </a:r>
            <a:endParaRPr lang="en-US" sz="1350" dirty="0"/>
          </a:p>
        </p:txBody>
      </p:sp>
      <p:sp>
        <p:nvSpPr>
          <p:cNvPr id="27" name="Text 24"/>
          <p:cNvSpPr/>
          <p:nvPr/>
        </p:nvSpPr>
        <p:spPr>
          <a:xfrm>
            <a:off x="6049315" y="3066752"/>
            <a:ext cx="2668918" cy="208062"/>
          </a:xfrm>
          <a:prstGeom prst="rect">
            <a:avLst/>
          </a:prstGeom>
          <a:noFill/>
          <a:ln/>
        </p:spPr>
        <p:txBody>
          <a:bodyPr wrap="none" lIns="0" tIns="0" rIns="0" bIns="0" rtlCol="0" anchor="t"/>
          <a:lstStyle/>
          <a:p>
            <a:pPr algn="ctr" indent="0" marL="0">
              <a:lnSpc>
                <a:spcPct val="123000"/>
              </a:lnSpc>
              <a:buNone/>
            </a:pPr>
            <a:r>
              <a:rPr lang="en-US" sz="1100" dirty="0">
                <a:solidFill>
                  <a:srgbClr val="4C4C4D"/>
                </a:solidFill>
                <a:latin typeface="Heebo" pitchFamily="34" charset="0"/>
                <a:ea typeface="Heebo" pitchFamily="34" charset="-122"/>
                <a:cs typeface="Heebo" pitchFamily="34" charset="-120"/>
              </a:rPr>
              <a:t>2,02 mil M</a:t>
            </a:r>
            <a:endParaRPr lang="en-US" sz="1100" dirty="0"/>
          </a:p>
        </p:txBody>
      </p:sp>
      <p:sp>
        <p:nvSpPr>
          <p:cNvPr id="28" name="Shape 25"/>
          <p:cNvSpPr/>
          <p:nvPr/>
        </p:nvSpPr>
        <p:spPr>
          <a:xfrm>
            <a:off x="6030266" y="2549128"/>
            <a:ext cx="2707017" cy="38100"/>
          </a:xfrm>
          <a:prstGeom prst="rect">
            <a:avLst/>
          </a:prstGeom>
          <a:solidFill>
            <a:srgbClr val="A034FE"/>
          </a:solidFill>
          <a:ln/>
        </p:spPr>
      </p:sp>
      <p:sp>
        <p:nvSpPr>
          <p:cNvPr id="29" name="Text 26"/>
          <p:cNvSpPr/>
          <p:nvPr/>
        </p:nvSpPr>
        <p:spPr>
          <a:xfrm>
            <a:off x="8867553" y="2727722"/>
            <a:ext cx="2668918" cy="219571"/>
          </a:xfrm>
          <a:prstGeom prst="rect">
            <a:avLst/>
          </a:prstGeom>
          <a:noFill/>
          <a:ln/>
        </p:spPr>
        <p:txBody>
          <a:bodyPr wrap="none" lIns="0" tIns="0" rIns="0" bIns="0" rtlCol="0" anchor="t"/>
          <a:lstStyle/>
          <a:p>
            <a:pPr algn="ctr"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Comisión Últ. Mes</a:t>
            </a:r>
            <a:endParaRPr lang="en-US" sz="1350" dirty="0"/>
          </a:p>
        </p:txBody>
      </p:sp>
      <p:sp>
        <p:nvSpPr>
          <p:cNvPr id="30" name="Text 27"/>
          <p:cNvSpPr/>
          <p:nvPr/>
        </p:nvSpPr>
        <p:spPr>
          <a:xfrm>
            <a:off x="8867553" y="3066752"/>
            <a:ext cx="2668918" cy="208062"/>
          </a:xfrm>
          <a:prstGeom prst="rect">
            <a:avLst/>
          </a:prstGeom>
          <a:noFill/>
          <a:ln/>
        </p:spPr>
        <p:txBody>
          <a:bodyPr wrap="none" lIns="0" tIns="0" rIns="0" bIns="0" rtlCol="0" anchor="t"/>
          <a:lstStyle/>
          <a:p>
            <a:pPr algn="ctr" indent="0" marL="0">
              <a:lnSpc>
                <a:spcPct val="123000"/>
              </a:lnSpc>
              <a:buNone/>
            </a:pPr>
            <a:r>
              <a:rPr lang="en-US" sz="1100" dirty="0">
                <a:solidFill>
                  <a:srgbClr val="4C4C4D"/>
                </a:solidFill>
                <a:latin typeface="Heebo" pitchFamily="34" charset="0"/>
                <a:ea typeface="Heebo" pitchFamily="34" charset="-122"/>
                <a:cs typeface="Heebo" pitchFamily="34" charset="-120"/>
              </a:rPr>
              <a:t>100,97 mill</a:t>
            </a:r>
            <a:endParaRPr lang="en-US" sz="1100" dirty="0"/>
          </a:p>
        </p:txBody>
      </p:sp>
      <p:sp>
        <p:nvSpPr>
          <p:cNvPr id="31" name="Shape 28"/>
          <p:cNvSpPr/>
          <p:nvPr/>
        </p:nvSpPr>
        <p:spPr>
          <a:xfrm>
            <a:off x="8848504" y="2549128"/>
            <a:ext cx="2707017" cy="38100"/>
          </a:xfrm>
          <a:prstGeom prst="rect">
            <a:avLst/>
          </a:prstGeom>
          <a:solidFill>
            <a:srgbClr val="A034FE"/>
          </a:solidFill>
          <a:ln/>
        </p:spPr>
      </p:sp>
      <p:sp>
        <p:nvSpPr>
          <p:cNvPr id="32" name="Text 29"/>
          <p:cNvSpPr/>
          <p:nvPr/>
        </p:nvSpPr>
        <p:spPr>
          <a:xfrm>
            <a:off x="6049315" y="3692327"/>
            <a:ext cx="2668918" cy="219571"/>
          </a:xfrm>
          <a:prstGeom prst="rect">
            <a:avLst/>
          </a:prstGeom>
          <a:noFill/>
          <a:ln/>
        </p:spPr>
        <p:txBody>
          <a:bodyPr wrap="none" lIns="0" tIns="0" rIns="0" bIns="0" rtlCol="0" anchor="t"/>
          <a:lstStyle/>
          <a:p>
            <a:pPr algn="ctr"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Comercios Activos</a:t>
            </a:r>
            <a:endParaRPr lang="en-US" sz="1350" dirty="0"/>
          </a:p>
        </p:txBody>
      </p:sp>
      <p:sp>
        <p:nvSpPr>
          <p:cNvPr id="33" name="Text 30"/>
          <p:cNvSpPr/>
          <p:nvPr/>
        </p:nvSpPr>
        <p:spPr>
          <a:xfrm>
            <a:off x="6049315" y="4031357"/>
            <a:ext cx="2668918" cy="208062"/>
          </a:xfrm>
          <a:prstGeom prst="rect">
            <a:avLst/>
          </a:prstGeom>
          <a:noFill/>
          <a:ln/>
        </p:spPr>
        <p:txBody>
          <a:bodyPr wrap="none" lIns="0" tIns="0" rIns="0" bIns="0" rtlCol="0" anchor="t"/>
          <a:lstStyle/>
          <a:p>
            <a:pPr algn="ctr" indent="0" marL="0">
              <a:lnSpc>
                <a:spcPct val="123000"/>
              </a:lnSpc>
              <a:buNone/>
            </a:pPr>
            <a:r>
              <a:rPr lang="en-US" sz="1100" dirty="0">
                <a:solidFill>
                  <a:srgbClr val="4C4C4D"/>
                </a:solidFill>
                <a:latin typeface="Heebo" pitchFamily="34" charset="0"/>
                <a:ea typeface="Heebo" pitchFamily="34" charset="-122"/>
                <a:cs typeface="Heebo" pitchFamily="34" charset="-120"/>
              </a:rPr>
              <a:t>1,78 mil</a:t>
            </a:r>
            <a:endParaRPr lang="en-US" sz="1100" dirty="0"/>
          </a:p>
        </p:txBody>
      </p:sp>
      <p:sp>
        <p:nvSpPr>
          <p:cNvPr id="34" name="Shape 31"/>
          <p:cNvSpPr/>
          <p:nvPr/>
        </p:nvSpPr>
        <p:spPr>
          <a:xfrm>
            <a:off x="6030266" y="3513733"/>
            <a:ext cx="2707017" cy="38100"/>
          </a:xfrm>
          <a:prstGeom prst="rect">
            <a:avLst/>
          </a:prstGeom>
          <a:solidFill>
            <a:srgbClr val="A034FE"/>
          </a:solidFill>
          <a:ln/>
        </p:spPr>
      </p:sp>
      <p:sp>
        <p:nvSpPr>
          <p:cNvPr id="35" name="Text 32"/>
          <p:cNvSpPr/>
          <p:nvPr/>
        </p:nvSpPr>
        <p:spPr>
          <a:xfrm>
            <a:off x="8867553" y="3692327"/>
            <a:ext cx="2668918" cy="219571"/>
          </a:xfrm>
          <a:prstGeom prst="rect">
            <a:avLst/>
          </a:prstGeom>
          <a:noFill/>
          <a:ln/>
        </p:spPr>
        <p:txBody>
          <a:bodyPr wrap="none" lIns="0" tIns="0" rIns="0" bIns="0" rtlCol="0" anchor="t"/>
          <a:lstStyle/>
          <a:p>
            <a:pPr algn="ctr"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Ticket Promedio</a:t>
            </a:r>
            <a:endParaRPr lang="en-US" sz="1350" dirty="0"/>
          </a:p>
        </p:txBody>
      </p:sp>
      <p:sp>
        <p:nvSpPr>
          <p:cNvPr id="36" name="Text 33"/>
          <p:cNvSpPr/>
          <p:nvPr/>
        </p:nvSpPr>
        <p:spPr>
          <a:xfrm>
            <a:off x="8867553" y="4031357"/>
            <a:ext cx="2668918" cy="208062"/>
          </a:xfrm>
          <a:prstGeom prst="rect">
            <a:avLst/>
          </a:prstGeom>
          <a:noFill/>
          <a:ln/>
        </p:spPr>
        <p:txBody>
          <a:bodyPr wrap="none" lIns="0" tIns="0" rIns="0" bIns="0" rtlCol="0" anchor="t"/>
          <a:lstStyle/>
          <a:p>
            <a:pPr algn="ctr" indent="0" marL="0">
              <a:lnSpc>
                <a:spcPct val="123000"/>
              </a:lnSpc>
              <a:buNone/>
            </a:pPr>
            <a:r>
              <a:rPr lang="en-US" sz="1100" dirty="0">
                <a:solidFill>
                  <a:srgbClr val="4C4C4D"/>
                </a:solidFill>
                <a:latin typeface="Heebo" pitchFamily="34" charset="0"/>
                <a:ea typeface="Heebo" pitchFamily="34" charset="-122"/>
                <a:cs typeface="Heebo" pitchFamily="34" charset="-120"/>
              </a:rPr>
              <a:t>194,13 mil</a:t>
            </a:r>
            <a:endParaRPr lang="en-US" sz="1100" dirty="0"/>
          </a:p>
        </p:txBody>
      </p:sp>
      <p:sp>
        <p:nvSpPr>
          <p:cNvPr id="37" name="Shape 34"/>
          <p:cNvSpPr/>
          <p:nvPr/>
        </p:nvSpPr>
        <p:spPr>
          <a:xfrm>
            <a:off x="8848504" y="3513733"/>
            <a:ext cx="2707017" cy="38100"/>
          </a:xfrm>
          <a:prstGeom prst="rect">
            <a:avLst/>
          </a:prstGeom>
          <a:solidFill>
            <a:srgbClr val="A034FE"/>
          </a:solidFill>
          <a:ln/>
        </p:spPr>
      </p:sp>
      <p:sp>
        <p:nvSpPr>
          <p:cNvPr id="38" name="Text 35"/>
          <p:cNvSpPr/>
          <p:nvPr/>
        </p:nvSpPr>
        <p:spPr>
          <a:xfrm>
            <a:off x="6049315" y="4656931"/>
            <a:ext cx="5487156" cy="219571"/>
          </a:xfrm>
          <a:prstGeom prst="rect">
            <a:avLst/>
          </a:prstGeom>
          <a:noFill/>
          <a:ln/>
        </p:spPr>
        <p:txBody>
          <a:bodyPr wrap="none" lIns="0" tIns="0" rIns="0" bIns="0" rtlCol="0" anchor="t"/>
          <a:lstStyle/>
          <a:p>
            <a:pPr algn="ctr"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Frecuencia Promedio</a:t>
            </a:r>
            <a:endParaRPr lang="en-US" sz="1350" dirty="0"/>
          </a:p>
        </p:txBody>
      </p:sp>
      <p:sp>
        <p:nvSpPr>
          <p:cNvPr id="39" name="Text 36"/>
          <p:cNvSpPr/>
          <p:nvPr/>
        </p:nvSpPr>
        <p:spPr>
          <a:xfrm>
            <a:off x="6049315" y="4995962"/>
            <a:ext cx="5487156" cy="208062"/>
          </a:xfrm>
          <a:prstGeom prst="rect">
            <a:avLst/>
          </a:prstGeom>
          <a:noFill/>
          <a:ln/>
        </p:spPr>
        <p:txBody>
          <a:bodyPr wrap="none" lIns="0" tIns="0" rIns="0" bIns="0" rtlCol="0" anchor="t"/>
          <a:lstStyle/>
          <a:p>
            <a:pPr algn="ctr" indent="0" marL="0">
              <a:lnSpc>
                <a:spcPct val="123000"/>
              </a:lnSpc>
              <a:buNone/>
            </a:pPr>
            <a:r>
              <a:rPr lang="en-US" sz="1100" dirty="0">
                <a:solidFill>
                  <a:srgbClr val="4C4C4D"/>
                </a:solidFill>
                <a:latin typeface="Heebo" pitchFamily="34" charset="0"/>
                <a:ea typeface="Heebo" pitchFamily="34" charset="-122"/>
                <a:cs typeface="Heebo" pitchFamily="34" charset="-120"/>
              </a:rPr>
              <a:t>22,60</a:t>
            </a:r>
            <a:endParaRPr lang="en-US" sz="1100" dirty="0"/>
          </a:p>
        </p:txBody>
      </p:sp>
      <p:sp>
        <p:nvSpPr>
          <p:cNvPr id="40" name="Shape 37"/>
          <p:cNvSpPr/>
          <p:nvPr/>
        </p:nvSpPr>
        <p:spPr>
          <a:xfrm>
            <a:off x="6030266" y="4478338"/>
            <a:ext cx="5525255" cy="38100"/>
          </a:xfrm>
          <a:prstGeom prst="rect">
            <a:avLst/>
          </a:prstGeom>
          <a:solidFill>
            <a:srgbClr val="A034FE"/>
          </a:solidFill>
          <a:ln/>
        </p:spPr>
      </p:sp>
      <p:sp>
        <p:nvSpPr>
          <p:cNvPr id="41" name="Text 38"/>
          <p:cNvSpPr/>
          <p:nvPr/>
        </p:nvSpPr>
        <p:spPr>
          <a:xfrm>
            <a:off x="6049315" y="5338366"/>
            <a:ext cx="5487156" cy="499467"/>
          </a:xfrm>
          <a:prstGeom prst="rect">
            <a:avLst/>
          </a:prstGeom>
          <a:noFill/>
          <a:ln/>
        </p:spPr>
        <p:txBody>
          <a:bodyPr wrap="square" lIns="0" tIns="0" rIns="0" bIns="0" rtlCol="0" anchor="t">
            <a:normAutofit/>
          </a:bodyPr>
          <a:lstStyle/>
          <a:p>
            <a:pPr algn="l" indent="0" marL="0">
              <a:lnSpc>
                <a:spcPct val="123000"/>
              </a:lnSpc>
              <a:buNone/>
            </a:pPr>
            <a:r>
              <a:rPr lang="en-US" sz="850" b="1" dirty="0">
                <a:solidFill>
                  <a:srgbClr val="4D4D4D"/>
                </a:solidFill>
                <a:latin typeface="Heebo Bold" pitchFamily="34" charset="0"/>
                <a:ea typeface="Heebo Bold" pitchFamily="34" charset="-122"/>
                <a:cs typeface="Heebo Bold" pitchFamily="34" charset="-120"/>
              </a:rPr>
              <a:t>*Con esta herramienta, el análisis realizado deja de ser un informe puntual y se convierte en un mecanismo de seguimiento para evaluar el cumplimiento del objetivo de incrementar las comisiones mediante una mejor segmentación de los comercios.</a:t>
            </a:r>
            <a:endParaRPr lang="en-US" sz="850" dirty="0"/>
          </a:p>
        </p:txBody>
      </p:sp>
      <p:sp>
        <p:nvSpPr>
          <p:cNvPr id="42" name="Text 39"/>
          <p:cNvSpPr/>
          <p:nvPr/>
        </p:nvSpPr>
        <p:spPr>
          <a:xfrm>
            <a:off x="661475" y="6079629"/>
            <a:ext cx="11478330" cy="208062"/>
          </a:xfrm>
          <a:prstGeom prst="rect">
            <a:avLst/>
          </a:prstGeom>
          <a:noFill/>
          <a:ln/>
        </p:spPr>
        <p:txBody>
          <a:bodyPr wrap="none" lIns="0" tIns="0" rIns="0" bIns="0" rtlCol="0" anchor="t"/>
          <a:lstStyle/>
          <a:p>
            <a:pPr algn="l" indent="0" marL="0">
              <a:lnSpc>
                <a:spcPct val="123000"/>
              </a:lnSpc>
              <a:buNone/>
            </a:pP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562570"/>
            <a:ext cx="448259" cy="201116"/>
          </a:xfrm>
          <a:prstGeom prst="roundRect">
            <a:avLst>
              <a:gd name="adj" fmla="val 7895"/>
            </a:avLst>
          </a:prstGeom>
          <a:noFill/>
          <a:ln w="6350">
            <a:solidFill>
              <a:srgbClr val="A034FE"/>
            </a:solidFill>
            <a:prstDash val="solid"/>
          </a:ln>
        </p:spPr>
      </p:sp>
      <p:sp>
        <p:nvSpPr>
          <p:cNvPr id="3" name="Text 1"/>
          <p:cNvSpPr/>
          <p:nvPr/>
        </p:nvSpPr>
        <p:spPr>
          <a:xfrm>
            <a:off x="740848" y="602258"/>
            <a:ext cx="899098" cy="121741"/>
          </a:xfrm>
          <a:prstGeom prst="rect">
            <a:avLst/>
          </a:prstGeom>
          <a:noFill/>
          <a:ln/>
        </p:spPr>
        <p:txBody>
          <a:bodyPr wrap="none" lIns="0" tIns="0" rIns="0" bIns="0" rtlCol="0" anchor="t"/>
          <a:lstStyle/>
          <a:p>
            <a:pPr algn="l" indent="0" marL="0">
              <a:lnSpc>
                <a:spcPct val="96000"/>
              </a:lnSpc>
              <a:buNone/>
            </a:pPr>
            <a:r>
              <a:rPr lang="en-US" sz="800" dirty="0">
                <a:solidFill>
                  <a:srgbClr val="A034FE"/>
                </a:solidFill>
                <a:latin typeface="Heebo" pitchFamily="34" charset="0"/>
                <a:ea typeface="Heebo" pitchFamily="34" charset="-122"/>
                <a:cs typeface="Heebo" pitchFamily="34" charset="-120"/>
              </a:rPr>
              <a:t>TCRM</a:t>
            </a:r>
            <a:endParaRPr lang="en-US" sz="800" dirty="0"/>
          </a:p>
        </p:txBody>
      </p:sp>
      <p:sp>
        <p:nvSpPr>
          <p:cNvPr id="4" name="Text 2"/>
          <p:cNvSpPr/>
          <p:nvPr/>
        </p:nvSpPr>
        <p:spPr>
          <a:xfrm>
            <a:off x="661475" y="805954"/>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3F1464"/>
                </a:solidFill>
                <a:latin typeface="Crimson Pro SemiBold" pitchFamily="34" charset="0"/>
                <a:ea typeface="Crimson Pro SemiBold" pitchFamily="34" charset="-122"/>
                <a:cs typeface="Crimson Pro SemiBold" pitchFamily="34" charset="-120"/>
              </a:rPr>
              <a:t>Análisis Histórico de la TCRM</a:t>
            </a:r>
            <a:endParaRPr lang="en-US" sz="2600" dirty="0"/>
          </a:p>
        </p:txBody>
      </p:sp>
      <p:sp>
        <p:nvSpPr>
          <p:cNvPr id="5" name="Text 3"/>
          <p:cNvSpPr/>
          <p:nvPr/>
        </p:nvSpPr>
        <p:spPr>
          <a:xfrm>
            <a:off x="859907" y="1592461"/>
            <a:ext cx="6417507" cy="381000"/>
          </a:xfrm>
          <a:prstGeom prst="rect">
            <a:avLst/>
          </a:prstGeom>
          <a:noFill/>
          <a:ln/>
        </p:spPr>
        <p:txBody>
          <a:bodyPr wrap="square" lIns="0" tIns="0" rIns="0" bIns="0" rtlCol="0" anchor="t">
            <a:normAutofit/>
          </a:bodyPr>
          <a:lstStyle/>
          <a:p>
            <a:pPr algn="l" indent="0" marL="0">
              <a:lnSpc>
                <a:spcPct val="120000"/>
              </a:lnSpc>
              <a:buNone/>
            </a:pPr>
            <a:r>
              <a:rPr lang="en-US" sz="1000" i="1" dirty="0">
                <a:solidFill>
                  <a:srgbClr val="4C4C4D"/>
                </a:solidFill>
                <a:latin typeface="Heebo" pitchFamily="34" charset="0"/>
                <a:ea typeface="Heebo" pitchFamily="34" charset="-122"/>
                <a:cs typeface="Heebo" pitchFamily="34" charset="-120"/>
              </a:rPr>
              <a:t>Se analizó el comportamiento diario de la TCRM entre 1992 y 2021 con el fin de identificar tendencias, cambios estructurales y patrones relevantes para la construcción del modelo de pronóstico.</a:t>
            </a:r>
            <a:endParaRPr lang="en-US" sz="1000" dirty="0"/>
          </a:p>
        </p:txBody>
      </p:sp>
      <p:pic>
        <p:nvPicPr>
          <p:cNvPr id="6" name="Image 0" descr="preencoded.png">    </p:cNvPr>
          <p:cNvPicPr>
            <a:picLocks noChangeAspect="1"/>
          </p:cNvPicPr>
          <p:nvPr/>
        </p:nvPicPr>
        <p:blipFill>
          <a:blip r:embed="rId1"/>
          <a:stretch>
            <a:fillRect/>
          </a:stretch>
        </p:blipFill>
        <p:spPr>
          <a:xfrm>
            <a:off x="859907" y="2092523"/>
            <a:ext cx="5030562" cy="2076748"/>
          </a:xfrm>
          <a:prstGeom prst="rect">
            <a:avLst/>
          </a:prstGeom>
        </p:spPr>
      </p:pic>
      <p:sp>
        <p:nvSpPr>
          <p:cNvPr id="7" name="Shape 4"/>
          <p:cNvSpPr/>
          <p:nvPr/>
        </p:nvSpPr>
        <p:spPr>
          <a:xfrm>
            <a:off x="661475" y="1497211"/>
            <a:ext cx="19050" cy="2791123"/>
          </a:xfrm>
          <a:prstGeom prst="roundRect">
            <a:avLst>
              <a:gd name="adj" fmla="val 49999"/>
            </a:avLst>
          </a:prstGeom>
          <a:solidFill>
            <a:srgbClr val="A034FE"/>
          </a:solidFill>
          <a:ln/>
        </p:spPr>
      </p:sp>
      <p:sp>
        <p:nvSpPr>
          <p:cNvPr id="8" name="Shape 5"/>
          <p:cNvSpPr/>
          <p:nvPr/>
        </p:nvSpPr>
        <p:spPr>
          <a:xfrm>
            <a:off x="661475" y="4407396"/>
            <a:ext cx="6615939" cy="828080"/>
          </a:xfrm>
          <a:prstGeom prst="roundRect">
            <a:avLst>
              <a:gd name="adj" fmla="val 2397"/>
            </a:avLst>
          </a:prstGeom>
          <a:solidFill>
            <a:srgbClr val="F2F2F2"/>
          </a:solidFill>
          <a:ln/>
        </p:spPr>
      </p:sp>
      <p:pic>
        <p:nvPicPr>
          <p:cNvPr id="9" name="Image 1" descr="preencoded.png">    </p:cNvPr>
          <p:cNvPicPr>
            <a:picLocks noChangeAspect="1"/>
          </p:cNvPicPr>
          <p:nvPr/>
        </p:nvPicPr>
        <p:blipFill>
          <a:blip r:embed="rId2"/>
          <a:stretch>
            <a:fillRect/>
          </a:stretch>
        </p:blipFill>
        <p:spPr>
          <a:xfrm>
            <a:off x="793730" y="4590256"/>
            <a:ext cx="165294" cy="132259"/>
          </a:xfrm>
          <a:prstGeom prst="rect">
            <a:avLst/>
          </a:prstGeom>
        </p:spPr>
      </p:pic>
      <p:sp>
        <p:nvSpPr>
          <p:cNvPr id="10" name="Text 6"/>
          <p:cNvSpPr/>
          <p:nvPr/>
        </p:nvSpPr>
        <p:spPr>
          <a:xfrm>
            <a:off x="1091280" y="4535686"/>
            <a:ext cx="6053879"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000000"/>
                </a:solidFill>
                <a:latin typeface="Heebo" pitchFamily="34" charset="0"/>
                <a:ea typeface="Heebo" pitchFamily="34" charset="-122"/>
                <a:cs typeface="Heebo" pitchFamily="34" charset="-120"/>
              </a:rPr>
              <a:t>El comportamiento histórico de la TCRM evidencia una tendencia creciente con episodios de alta volatilidad. Dado que no sigue un comportamiento lineal, el análisis histórico sirve como base para construir un modelo de pronóstico que permita estimar valores futuros con soporte estadístico.</a:t>
            </a:r>
            <a:endParaRPr lang="en-US" sz="1000" dirty="0"/>
          </a:p>
        </p:txBody>
      </p:sp>
      <p:sp>
        <p:nvSpPr>
          <p:cNvPr id="11" name="Text 7"/>
          <p:cNvSpPr/>
          <p:nvPr/>
        </p:nvSpPr>
        <p:spPr>
          <a:xfrm>
            <a:off x="7606415" y="1483916"/>
            <a:ext cx="3930056" cy="206673"/>
          </a:xfrm>
          <a:prstGeom prst="rect">
            <a:avLst/>
          </a:prstGeom>
          <a:noFill/>
          <a:ln/>
        </p:spPr>
        <p:txBody>
          <a:bodyPr wrap="none" lIns="0" tIns="0" rIns="0" bIns="0" rtlCol="0" anchor="t"/>
          <a:lstStyle/>
          <a:p>
            <a:pPr algn="l" indent="0" marL="0">
              <a:lnSpc>
                <a:spcPct val="104000"/>
              </a:lnSpc>
              <a:buNone/>
            </a:pPr>
            <a:r>
              <a:rPr lang="en-US" sz="1300" dirty="0">
                <a:solidFill>
                  <a:srgbClr val="6F24B1"/>
                </a:solidFill>
                <a:latin typeface="Crimson Pro SemiBold" pitchFamily="34" charset="0"/>
                <a:ea typeface="Crimson Pro SemiBold" pitchFamily="34" charset="-122"/>
                <a:cs typeface="Crimson Pro SemiBold" pitchFamily="34" charset="-120"/>
              </a:rPr>
              <a:t>TCRM para la fecha de expedición 07/10/2019</a:t>
            </a:r>
            <a:endParaRPr lang="en-US" sz="1300" dirty="0"/>
          </a:p>
        </p:txBody>
      </p:sp>
      <p:sp>
        <p:nvSpPr>
          <p:cNvPr id="12" name="Text 8"/>
          <p:cNvSpPr/>
          <p:nvPr/>
        </p:nvSpPr>
        <p:spPr>
          <a:xfrm>
            <a:off x="7606415" y="1796355"/>
            <a:ext cx="3930056" cy="570607"/>
          </a:xfrm>
          <a:prstGeom prst="rect">
            <a:avLst/>
          </a:prstGeom>
          <a:noFill/>
          <a:ln/>
        </p:spPr>
        <p:txBody>
          <a:bodyPr wrap="none" lIns="0" tIns="0" rIns="0" bIns="0" rtlCol="0" anchor="t"/>
          <a:lstStyle/>
          <a:p>
            <a:pPr algn="l" indent="0" marL="0">
              <a:lnSpc>
                <a:spcPct val="104000"/>
              </a:lnSpc>
              <a:buNone/>
            </a:pPr>
            <a:r>
              <a:rPr lang="en-US" sz="3550" dirty="0">
                <a:solidFill>
                  <a:srgbClr val="3F1464"/>
                </a:solidFill>
                <a:latin typeface="Crimson Pro SemiBold" pitchFamily="34" charset="0"/>
                <a:ea typeface="Crimson Pro SemiBold" pitchFamily="34" charset="-122"/>
                <a:cs typeface="Crimson Pro SemiBold" pitchFamily="34" charset="-120"/>
              </a:rPr>
              <a:t>$3.430,28</a:t>
            </a:r>
            <a:endParaRPr lang="en-US" sz="3550" dirty="0"/>
          </a:p>
        </p:txBody>
      </p:sp>
      <p:sp>
        <p:nvSpPr>
          <p:cNvPr id="13" name="Shape 9"/>
          <p:cNvSpPr/>
          <p:nvPr/>
        </p:nvSpPr>
        <p:spPr>
          <a:xfrm>
            <a:off x="7606415" y="2519065"/>
            <a:ext cx="3930056" cy="19050"/>
          </a:xfrm>
          <a:prstGeom prst="roundRect">
            <a:avLst>
              <a:gd name="adj" fmla="val 49999"/>
            </a:avLst>
          </a:prstGeom>
          <a:solidFill>
            <a:srgbClr val="4C4C4D">
              <a:alpha val="50000"/>
            </a:srgbClr>
          </a:solidFill>
          <a:ln/>
        </p:spPr>
      </p:sp>
      <p:sp>
        <p:nvSpPr>
          <p:cNvPr id="14" name="Text 10"/>
          <p:cNvSpPr/>
          <p:nvPr/>
        </p:nvSpPr>
        <p:spPr>
          <a:xfrm>
            <a:off x="7606415" y="2690217"/>
            <a:ext cx="3930056" cy="206673"/>
          </a:xfrm>
          <a:prstGeom prst="rect">
            <a:avLst/>
          </a:prstGeom>
          <a:noFill/>
          <a:ln/>
        </p:spPr>
        <p:txBody>
          <a:bodyPr wrap="none" lIns="0" tIns="0" rIns="0" bIns="0" rtlCol="0" anchor="t"/>
          <a:lstStyle/>
          <a:p>
            <a:pPr algn="l" indent="0" marL="0">
              <a:lnSpc>
                <a:spcPct val="104000"/>
              </a:lnSpc>
              <a:buNone/>
            </a:pPr>
            <a:r>
              <a:rPr lang="en-US" sz="1300" dirty="0">
                <a:solidFill>
                  <a:srgbClr val="3F1464"/>
                </a:solidFill>
                <a:latin typeface="Crimson Pro SemiBold" pitchFamily="34" charset="0"/>
                <a:ea typeface="Crimson Pro SemiBold" pitchFamily="34" charset="-122"/>
                <a:cs typeface="Crimson Pro SemiBold" pitchFamily="34" charset="-120"/>
              </a:rPr>
              <a:t>Observaciones clave</a:t>
            </a:r>
            <a:endParaRPr lang="en-US" sz="1300" dirty="0"/>
          </a:p>
        </p:txBody>
      </p:sp>
      <p:sp>
        <p:nvSpPr>
          <p:cNvPr id="15" name="Shape 11"/>
          <p:cNvSpPr/>
          <p:nvPr/>
        </p:nvSpPr>
        <p:spPr>
          <a:xfrm>
            <a:off x="9561869" y="3015952"/>
            <a:ext cx="19050" cy="3160415"/>
          </a:xfrm>
          <a:prstGeom prst="roundRect">
            <a:avLst>
              <a:gd name="adj" fmla="val 49999"/>
            </a:avLst>
          </a:prstGeom>
          <a:solidFill>
            <a:srgbClr val="D8D4D4"/>
          </a:solidFill>
          <a:ln/>
        </p:spPr>
      </p:sp>
      <p:sp>
        <p:nvSpPr>
          <p:cNvPr id="16" name="Shape 12"/>
          <p:cNvSpPr/>
          <p:nvPr/>
        </p:nvSpPr>
        <p:spPr>
          <a:xfrm>
            <a:off x="9325833" y="3155255"/>
            <a:ext cx="264610" cy="19050"/>
          </a:xfrm>
          <a:prstGeom prst="roundRect">
            <a:avLst>
              <a:gd name="adj" fmla="val 49999"/>
            </a:avLst>
          </a:prstGeom>
          <a:solidFill>
            <a:srgbClr val="D8D4D4"/>
          </a:solidFill>
          <a:ln/>
        </p:spPr>
      </p:sp>
      <p:sp>
        <p:nvSpPr>
          <p:cNvPr id="17" name="Shape 13"/>
          <p:cNvSpPr/>
          <p:nvPr/>
        </p:nvSpPr>
        <p:spPr>
          <a:xfrm>
            <a:off x="9521785" y="3115171"/>
            <a:ext cx="99216" cy="99219"/>
          </a:xfrm>
          <a:prstGeom prst="ellipse">
            <a:avLst/>
          </a:prstGeom>
          <a:solidFill>
            <a:srgbClr val="A034FE"/>
          </a:solidFill>
          <a:ln/>
        </p:spPr>
      </p:sp>
      <p:sp>
        <p:nvSpPr>
          <p:cNvPr id="18" name="Text 14"/>
          <p:cNvSpPr/>
          <p:nvPr/>
        </p:nvSpPr>
        <p:spPr>
          <a:xfrm>
            <a:off x="7606415" y="3061395"/>
            <a:ext cx="1435759" cy="206673"/>
          </a:xfrm>
          <a:prstGeom prst="rect">
            <a:avLst/>
          </a:prstGeom>
          <a:noFill/>
          <a:ln/>
        </p:spPr>
        <p:txBody>
          <a:bodyPr wrap="none" lIns="0" tIns="0" rIns="0" bIns="0" rtlCol="0" anchor="t"/>
          <a:lstStyle/>
          <a:p>
            <a:pPr algn="r"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1992–2002</a:t>
            </a:r>
            <a:endParaRPr lang="en-US" sz="1300" dirty="0"/>
          </a:p>
        </p:txBody>
      </p:sp>
      <p:sp>
        <p:nvSpPr>
          <p:cNvPr id="19" name="Text 15"/>
          <p:cNvSpPr/>
          <p:nvPr/>
        </p:nvSpPr>
        <p:spPr>
          <a:xfrm>
            <a:off x="7606415" y="3373834"/>
            <a:ext cx="1435759" cy="304800"/>
          </a:xfrm>
          <a:prstGeom prst="rect">
            <a:avLst/>
          </a:prstGeom>
          <a:noFill/>
          <a:ln/>
        </p:spPr>
        <p:txBody>
          <a:bodyPr wrap="square" lIns="0" tIns="0" rIns="0" bIns="0" rtlCol="0" anchor="t">
            <a:normAutofit/>
          </a:bodyPr>
          <a:lstStyle/>
          <a:p>
            <a:pPr algn="r" indent="0" marL="0">
              <a:lnSpc>
                <a:spcPct val="120000"/>
              </a:lnSpc>
              <a:buNone/>
            </a:pPr>
            <a:r>
              <a:rPr lang="en-US" sz="800" b="1" dirty="0">
                <a:solidFill>
                  <a:srgbClr val="4C4C4D"/>
                </a:solidFill>
                <a:latin typeface="Heebo Bold" pitchFamily="34" charset="0"/>
                <a:ea typeface="Heebo Bold" pitchFamily="34" charset="-122"/>
                <a:cs typeface="Heebo Bold" pitchFamily="34" charset="-120"/>
              </a:rPr>
              <a:t>Crecimiento sostenido</a:t>
            </a:r>
            <a:endParaRPr lang="en-US" sz="800" dirty="0"/>
          </a:p>
          <a:p>
            <a:pPr algn="r" indent="0" marL="0">
              <a:lnSpc>
                <a:spcPct val="120000"/>
              </a:lnSpc>
              <a:buNone/>
            </a:pPr>
            <a:r>
              <a:rPr lang="en-US" sz="800" i="1" dirty="0">
                <a:solidFill>
                  <a:srgbClr val="4C4C4D"/>
                </a:solidFill>
                <a:latin typeface="Heebo" pitchFamily="34" charset="0"/>
                <a:ea typeface="Heebo" pitchFamily="34" charset="-122"/>
                <a:cs typeface="Heebo" pitchFamily="34" charset="-120"/>
              </a:rPr>
              <a:t>Mayor valorización del dólar.</a:t>
            </a:r>
            <a:endParaRPr lang="en-US" sz="800" dirty="0"/>
          </a:p>
        </p:txBody>
      </p:sp>
      <p:sp>
        <p:nvSpPr>
          <p:cNvPr id="20" name="Shape 16"/>
          <p:cNvSpPr/>
          <p:nvPr/>
        </p:nvSpPr>
        <p:spPr>
          <a:xfrm>
            <a:off x="9552344" y="3896122"/>
            <a:ext cx="264610" cy="19050"/>
          </a:xfrm>
          <a:prstGeom prst="roundRect">
            <a:avLst>
              <a:gd name="adj" fmla="val 49999"/>
            </a:avLst>
          </a:prstGeom>
          <a:solidFill>
            <a:srgbClr val="D8D4D4"/>
          </a:solidFill>
          <a:ln/>
        </p:spPr>
      </p:sp>
      <p:sp>
        <p:nvSpPr>
          <p:cNvPr id="21" name="Shape 17"/>
          <p:cNvSpPr/>
          <p:nvPr/>
        </p:nvSpPr>
        <p:spPr>
          <a:xfrm>
            <a:off x="9521785" y="3856038"/>
            <a:ext cx="99216" cy="99219"/>
          </a:xfrm>
          <a:prstGeom prst="ellipse">
            <a:avLst/>
          </a:prstGeom>
          <a:solidFill>
            <a:srgbClr val="A034FE"/>
          </a:solidFill>
          <a:ln/>
        </p:spPr>
      </p:sp>
      <p:sp>
        <p:nvSpPr>
          <p:cNvPr id="22" name="Text 18"/>
          <p:cNvSpPr/>
          <p:nvPr/>
        </p:nvSpPr>
        <p:spPr>
          <a:xfrm>
            <a:off x="10100613" y="3802261"/>
            <a:ext cx="1435858"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2003–2008</a:t>
            </a:r>
            <a:endParaRPr lang="en-US" sz="1300" dirty="0"/>
          </a:p>
        </p:txBody>
      </p:sp>
      <p:sp>
        <p:nvSpPr>
          <p:cNvPr id="23" name="Text 19"/>
          <p:cNvSpPr/>
          <p:nvPr/>
        </p:nvSpPr>
        <p:spPr>
          <a:xfrm>
            <a:off x="10100613" y="4114701"/>
            <a:ext cx="1435858" cy="457200"/>
          </a:xfrm>
          <a:prstGeom prst="rect">
            <a:avLst/>
          </a:prstGeom>
          <a:noFill/>
          <a:ln/>
        </p:spPr>
        <p:txBody>
          <a:bodyPr wrap="square" lIns="0" tIns="0" rIns="0" bIns="0" rtlCol="0" anchor="t">
            <a:normAutofit/>
          </a:bodyPr>
          <a:lstStyle/>
          <a:p>
            <a:pPr algn="l" indent="0" marL="0">
              <a:lnSpc>
                <a:spcPct val="120000"/>
              </a:lnSpc>
              <a:buNone/>
            </a:pPr>
            <a:r>
              <a:rPr lang="en-US" sz="800" b="1" dirty="0">
                <a:solidFill>
                  <a:srgbClr val="4C4C4D"/>
                </a:solidFill>
                <a:latin typeface="Heebo Bold" pitchFamily="34" charset="0"/>
                <a:ea typeface="Heebo Bold" pitchFamily="34" charset="-122"/>
                <a:cs typeface="Heebo Bold" pitchFamily="34" charset="-120"/>
              </a:rPr>
              <a:t>Corrección del mercado</a:t>
            </a:r>
            <a:endParaRPr lang="en-US" sz="800" dirty="0"/>
          </a:p>
          <a:p>
            <a:pPr algn="l" indent="0" marL="0">
              <a:lnSpc>
                <a:spcPct val="120000"/>
              </a:lnSpc>
              <a:buNone/>
            </a:pPr>
            <a:r>
              <a:rPr lang="en-US" sz="800" i="1" dirty="0">
                <a:solidFill>
                  <a:srgbClr val="4C4C4D"/>
                </a:solidFill>
                <a:latin typeface="Heebo" pitchFamily="34" charset="0"/>
                <a:ea typeface="Heebo" pitchFamily="34" charset="-122"/>
                <a:cs typeface="Heebo" pitchFamily="34" charset="-120"/>
              </a:rPr>
              <a:t>Ajuste después del máximo histórico</a:t>
            </a:r>
            <a:endParaRPr lang="en-US" sz="800" dirty="0"/>
          </a:p>
        </p:txBody>
      </p:sp>
      <p:sp>
        <p:nvSpPr>
          <p:cNvPr id="24" name="Shape 20"/>
          <p:cNvSpPr/>
          <p:nvPr/>
        </p:nvSpPr>
        <p:spPr>
          <a:xfrm>
            <a:off x="9325833" y="4553843"/>
            <a:ext cx="264610" cy="19050"/>
          </a:xfrm>
          <a:prstGeom prst="roundRect">
            <a:avLst>
              <a:gd name="adj" fmla="val 49999"/>
            </a:avLst>
          </a:prstGeom>
          <a:solidFill>
            <a:srgbClr val="D8D4D4"/>
          </a:solidFill>
          <a:ln/>
        </p:spPr>
      </p:sp>
      <p:sp>
        <p:nvSpPr>
          <p:cNvPr id="25" name="Shape 21"/>
          <p:cNvSpPr/>
          <p:nvPr/>
        </p:nvSpPr>
        <p:spPr>
          <a:xfrm>
            <a:off x="9521785" y="4513759"/>
            <a:ext cx="99216" cy="99219"/>
          </a:xfrm>
          <a:prstGeom prst="ellipse">
            <a:avLst/>
          </a:prstGeom>
          <a:solidFill>
            <a:srgbClr val="A034FE"/>
          </a:solidFill>
          <a:ln/>
        </p:spPr>
      </p:sp>
      <p:sp>
        <p:nvSpPr>
          <p:cNvPr id="26" name="Text 22"/>
          <p:cNvSpPr/>
          <p:nvPr/>
        </p:nvSpPr>
        <p:spPr>
          <a:xfrm>
            <a:off x="7606415" y="4459982"/>
            <a:ext cx="1435759" cy="206673"/>
          </a:xfrm>
          <a:prstGeom prst="rect">
            <a:avLst/>
          </a:prstGeom>
          <a:noFill/>
          <a:ln/>
        </p:spPr>
        <p:txBody>
          <a:bodyPr wrap="none" lIns="0" tIns="0" rIns="0" bIns="0" rtlCol="0" anchor="t"/>
          <a:lstStyle/>
          <a:p>
            <a:pPr algn="r" indent="0" marL="0">
              <a:lnSpc>
                <a:spcPct val="104000"/>
              </a:lnSpc>
              <a:buNone/>
            </a:pPr>
            <a:r>
              <a:rPr lang="en-US" sz="1300" b="1" dirty="0">
                <a:solidFill>
                  <a:srgbClr val="4C4C4D"/>
                </a:solidFill>
                <a:latin typeface="Crimson Pro Bold" pitchFamily="34" charset="0"/>
                <a:ea typeface="Crimson Pro Bold" pitchFamily="34" charset="-122"/>
                <a:cs typeface="Crimson Pro Bold" pitchFamily="34" charset="-120"/>
              </a:rPr>
              <a:t>2008–2009</a:t>
            </a:r>
            <a:endParaRPr lang="en-US" sz="1300" dirty="0"/>
          </a:p>
        </p:txBody>
      </p:sp>
      <p:sp>
        <p:nvSpPr>
          <p:cNvPr id="27" name="Text 23"/>
          <p:cNvSpPr/>
          <p:nvPr/>
        </p:nvSpPr>
        <p:spPr>
          <a:xfrm>
            <a:off x="7606415" y="4772422"/>
            <a:ext cx="1435759" cy="457200"/>
          </a:xfrm>
          <a:prstGeom prst="rect">
            <a:avLst/>
          </a:prstGeom>
          <a:noFill/>
          <a:ln/>
        </p:spPr>
        <p:txBody>
          <a:bodyPr wrap="square" lIns="0" tIns="0" rIns="0" bIns="0" rtlCol="0" anchor="t">
            <a:normAutofit/>
          </a:bodyPr>
          <a:lstStyle/>
          <a:p>
            <a:pPr algn="r" indent="0" marL="0">
              <a:lnSpc>
                <a:spcPct val="120000"/>
              </a:lnSpc>
              <a:buNone/>
            </a:pPr>
            <a:r>
              <a:rPr lang="en-US" sz="800" b="1" dirty="0">
                <a:solidFill>
                  <a:srgbClr val="4C4C4D"/>
                </a:solidFill>
                <a:latin typeface="Heebo Bold" pitchFamily="34" charset="0"/>
                <a:ea typeface="Heebo Bold" pitchFamily="34" charset="-122"/>
                <a:cs typeface="Heebo Bold" pitchFamily="34" charset="-120"/>
              </a:rPr>
              <a:t>Alta volatilidad</a:t>
            </a:r>
            <a:endParaRPr lang="en-US" sz="800" dirty="0"/>
          </a:p>
          <a:p>
            <a:pPr algn="r" indent="0" marL="0">
              <a:lnSpc>
                <a:spcPct val="120000"/>
              </a:lnSpc>
              <a:buNone/>
            </a:pPr>
            <a:r>
              <a:rPr lang="en-US" sz="800" i="1" dirty="0">
                <a:solidFill>
                  <a:srgbClr val="4C4C4D"/>
                </a:solidFill>
                <a:latin typeface="Heebo" pitchFamily="34" charset="0"/>
                <a:ea typeface="Heebo" pitchFamily="34" charset="-122"/>
                <a:cs typeface="Heebo" pitchFamily="34" charset="-120"/>
              </a:rPr>
              <a:t>Impacto de la crisis financiera.</a:t>
            </a:r>
            <a:endParaRPr lang="en-US" sz="800" dirty="0"/>
          </a:p>
        </p:txBody>
      </p:sp>
      <p:sp>
        <p:nvSpPr>
          <p:cNvPr id="28" name="Shape 24"/>
          <p:cNvSpPr/>
          <p:nvPr/>
        </p:nvSpPr>
        <p:spPr>
          <a:xfrm>
            <a:off x="9552344" y="5211663"/>
            <a:ext cx="264610" cy="19050"/>
          </a:xfrm>
          <a:prstGeom prst="roundRect">
            <a:avLst>
              <a:gd name="adj" fmla="val 49999"/>
            </a:avLst>
          </a:prstGeom>
          <a:solidFill>
            <a:srgbClr val="D8D4D4"/>
          </a:solidFill>
          <a:ln/>
        </p:spPr>
      </p:sp>
      <p:sp>
        <p:nvSpPr>
          <p:cNvPr id="29" name="Shape 25"/>
          <p:cNvSpPr/>
          <p:nvPr/>
        </p:nvSpPr>
        <p:spPr>
          <a:xfrm>
            <a:off x="9521785" y="5171579"/>
            <a:ext cx="99216" cy="99219"/>
          </a:xfrm>
          <a:prstGeom prst="ellipse">
            <a:avLst/>
          </a:prstGeom>
          <a:solidFill>
            <a:srgbClr val="A034FE"/>
          </a:solidFill>
          <a:ln/>
        </p:spPr>
      </p:sp>
      <p:sp>
        <p:nvSpPr>
          <p:cNvPr id="30" name="Text 26"/>
          <p:cNvSpPr/>
          <p:nvPr/>
        </p:nvSpPr>
        <p:spPr>
          <a:xfrm>
            <a:off x="10100613" y="5117802"/>
            <a:ext cx="1435858" cy="206673"/>
          </a:xfrm>
          <a:prstGeom prst="rect">
            <a:avLst/>
          </a:prstGeom>
          <a:noFill/>
          <a:ln/>
        </p:spPr>
        <p:txBody>
          <a:bodyPr wrap="none" lIns="0" tIns="0" rIns="0" bIns="0" rtlCol="0" anchor="t"/>
          <a:lstStyle/>
          <a:p>
            <a:pPr algn="l" indent="0" marL="0">
              <a:lnSpc>
                <a:spcPct val="104000"/>
              </a:lnSpc>
              <a:buNone/>
            </a:pPr>
            <a:r>
              <a:rPr lang="en-US" sz="1300" dirty="0">
                <a:solidFill>
                  <a:srgbClr val="4C4C4D"/>
                </a:solidFill>
                <a:latin typeface="Crimson Pro SemiBold" pitchFamily="34" charset="0"/>
                <a:ea typeface="Crimson Pro SemiBold" pitchFamily="34" charset="-122"/>
                <a:cs typeface="Crimson Pro SemiBold" pitchFamily="34" charset="-120"/>
              </a:rPr>
              <a:t>2014–2021</a:t>
            </a:r>
            <a:endParaRPr lang="en-US" sz="1300" dirty="0"/>
          </a:p>
        </p:txBody>
      </p:sp>
      <p:sp>
        <p:nvSpPr>
          <p:cNvPr id="31" name="Text 27"/>
          <p:cNvSpPr/>
          <p:nvPr/>
        </p:nvSpPr>
        <p:spPr>
          <a:xfrm>
            <a:off x="10100613" y="5430242"/>
            <a:ext cx="1435858" cy="457200"/>
          </a:xfrm>
          <a:prstGeom prst="rect">
            <a:avLst/>
          </a:prstGeom>
          <a:noFill/>
          <a:ln/>
        </p:spPr>
        <p:txBody>
          <a:bodyPr wrap="square" lIns="0" tIns="0" rIns="0" bIns="0" rtlCol="0" anchor="t">
            <a:normAutofit/>
          </a:bodyPr>
          <a:lstStyle/>
          <a:p>
            <a:pPr algn="l" indent="0" marL="0">
              <a:lnSpc>
                <a:spcPct val="120000"/>
              </a:lnSpc>
              <a:buNone/>
            </a:pPr>
            <a:r>
              <a:rPr lang="en-US" sz="800" b="1" dirty="0">
                <a:solidFill>
                  <a:srgbClr val="4C4C4D"/>
                </a:solidFill>
                <a:latin typeface="Heebo Bold" pitchFamily="34" charset="0"/>
                <a:ea typeface="Heebo Bold" pitchFamily="34" charset="-122"/>
                <a:cs typeface="Heebo Bold" pitchFamily="34" charset="-120"/>
              </a:rPr>
              <a:t>Nueva tendencia alcista</a:t>
            </a:r>
            <a:endParaRPr lang="en-US" sz="800" dirty="0"/>
          </a:p>
          <a:p>
            <a:pPr algn="l" indent="0" marL="0">
              <a:lnSpc>
                <a:spcPct val="120000"/>
              </a:lnSpc>
              <a:buNone/>
            </a:pPr>
            <a:r>
              <a:rPr lang="en-US" sz="800" i="1" dirty="0">
                <a:solidFill>
                  <a:srgbClr val="4C4C4D"/>
                </a:solidFill>
                <a:latin typeface="Heebo" pitchFamily="34" charset="0"/>
                <a:ea typeface="Heebo" pitchFamily="34" charset="-122"/>
                <a:cs typeface="Heebo" pitchFamily="34" charset="-120"/>
              </a:rPr>
              <a:t>Recuperación con mayor volatilidad.</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657225"/>
            <a:ext cx="1918942" cy="226219"/>
          </a:xfrm>
          <a:prstGeom prst="roundRect">
            <a:avLst>
              <a:gd name="adj" fmla="val 7896"/>
            </a:avLst>
          </a:prstGeom>
          <a:noFill/>
          <a:ln w="6350">
            <a:solidFill>
              <a:srgbClr val="A034FE"/>
            </a:solidFill>
            <a:prstDash val="solid"/>
          </a:ln>
        </p:spPr>
      </p:sp>
      <p:sp>
        <p:nvSpPr>
          <p:cNvPr id="3" name="Text 1"/>
          <p:cNvSpPr/>
          <p:nvPr/>
        </p:nvSpPr>
        <p:spPr>
          <a:xfrm>
            <a:off x="750769" y="701873"/>
            <a:ext cx="2349937" cy="136922"/>
          </a:xfrm>
          <a:prstGeom prst="rect">
            <a:avLst/>
          </a:prstGeom>
          <a:noFill/>
          <a:ln/>
        </p:spPr>
        <p:txBody>
          <a:bodyPr wrap="none" lIns="0" tIns="0" rIns="0" bIns="0" rtlCol="0" anchor="t"/>
          <a:lstStyle/>
          <a:p>
            <a:pPr algn="l" indent="0" marL="0">
              <a:lnSpc>
                <a:spcPct val="96000"/>
              </a:lnSpc>
              <a:buNone/>
            </a:pPr>
            <a:r>
              <a:rPr lang="en-US" sz="900" dirty="0">
                <a:solidFill>
                  <a:srgbClr val="A034FE"/>
                </a:solidFill>
                <a:latin typeface="Heebo" pitchFamily="34" charset="0"/>
                <a:ea typeface="Heebo" pitchFamily="34" charset="-122"/>
                <a:cs typeface="Heebo" pitchFamily="34" charset="-120"/>
              </a:rPr>
              <a:t>FORECAST DE SERIE TEMPORAL</a:t>
            </a:r>
            <a:endParaRPr lang="en-US" sz="900" dirty="0"/>
          </a:p>
        </p:txBody>
      </p:sp>
      <p:sp>
        <p:nvSpPr>
          <p:cNvPr id="4" name="Text 2"/>
          <p:cNvSpPr/>
          <p:nvPr/>
        </p:nvSpPr>
        <p:spPr>
          <a:xfrm>
            <a:off x="661475" y="937022"/>
            <a:ext cx="10868745" cy="465138"/>
          </a:xfrm>
          <a:prstGeom prst="rect">
            <a:avLst/>
          </a:prstGeom>
          <a:noFill/>
          <a:ln/>
        </p:spPr>
        <p:txBody>
          <a:bodyPr wrap="none" lIns="0" tIns="0" rIns="0" bIns="0" rtlCol="0" anchor="t"/>
          <a:lstStyle/>
          <a:p>
            <a:pPr algn="l" indent="0" marL="0">
              <a:lnSpc>
                <a:spcPct val="104000"/>
              </a:lnSpc>
              <a:buNone/>
            </a:pPr>
            <a:r>
              <a:rPr lang="en-US" sz="2900" dirty="0">
                <a:solidFill>
                  <a:srgbClr val="3F1464"/>
                </a:solidFill>
                <a:latin typeface="Crimson Pro SemiBold" pitchFamily="34" charset="0"/>
                <a:ea typeface="Crimson Pro SemiBold" pitchFamily="34" charset="-122"/>
                <a:cs typeface="Crimson Pro SemiBold" pitchFamily="34" charset="-120"/>
              </a:rPr>
              <a:t>Pronóstico de TCRM — Modelo SARIMA</a:t>
            </a:r>
            <a:endParaRPr lang="en-US" sz="2900" dirty="0"/>
          </a:p>
        </p:txBody>
      </p:sp>
      <p:sp>
        <p:nvSpPr>
          <p:cNvPr id="5" name="Text 3"/>
          <p:cNvSpPr/>
          <p:nvPr/>
        </p:nvSpPr>
        <p:spPr>
          <a:xfrm>
            <a:off x="884711" y="1874341"/>
            <a:ext cx="6152698" cy="678656"/>
          </a:xfrm>
          <a:prstGeom prst="rect">
            <a:avLst/>
          </a:prstGeom>
          <a:noFill/>
          <a:ln/>
        </p:spPr>
        <p:txBody>
          <a:bodyPr wrap="square" lIns="0" tIns="0" rIns="0" bIns="0" rtlCol="0" anchor="t">
            <a:normAutofit/>
          </a:bodyPr>
          <a:lstStyle/>
          <a:p>
            <a:pPr algn="l" indent="0" marL="0">
              <a:lnSpc>
                <a:spcPct val="127000"/>
              </a:lnSpc>
              <a:buNone/>
            </a:pPr>
            <a:r>
              <a:rPr lang="en-US" sz="1150" i="1" dirty="0">
                <a:solidFill>
                  <a:srgbClr val="4C4C4D"/>
                </a:solidFill>
                <a:latin typeface="Heebo" pitchFamily="34" charset="0"/>
                <a:ea typeface="Heebo" pitchFamily="34" charset="-122"/>
                <a:cs typeface="Heebo" pitchFamily="34" charset="-120"/>
              </a:rPr>
              <a:t>Se eligió </a:t>
            </a:r>
            <a:pPr algn="l" indent="0" marL="0">
              <a:lnSpc>
                <a:spcPct val="127000"/>
              </a:lnSpc>
              <a:buNone/>
            </a:pPr>
            <a:r>
              <a:rPr lang="en-US" sz="1150" b="1" i="1" dirty="0">
                <a:solidFill>
                  <a:srgbClr val="4C4C4D"/>
                </a:solidFill>
                <a:latin typeface="Heebo Bold" pitchFamily="34" charset="0"/>
                <a:ea typeface="Heebo Bold" pitchFamily="34" charset="-122"/>
                <a:cs typeface="Heebo Bold" pitchFamily="34" charset="-120"/>
              </a:rPr>
              <a:t>SARIMA</a:t>
            </a:r>
            <a:pPr algn="l" indent="0" marL="0">
              <a:lnSpc>
                <a:spcPct val="127000"/>
              </a:lnSpc>
              <a:buNone/>
            </a:pPr>
            <a:r>
              <a:rPr lang="en-US" sz="1150" i="1" dirty="0">
                <a:solidFill>
                  <a:srgbClr val="4C4C4D"/>
                </a:solidFill>
                <a:latin typeface="Heebo" pitchFamily="34" charset="0"/>
                <a:ea typeface="Heebo" pitchFamily="34" charset="-122"/>
                <a:cs typeface="Heebo" pitchFamily="34" charset="-120"/>
              </a:rPr>
              <a:t> porque la serie presenta tendencia de largo plazo y dependencia temporal entre observaciones. Este modelo permite proyectar el comportamiento futuro utilizando la estructura histórica de la TCRM.</a:t>
            </a:r>
            <a:endParaRPr lang="en-US" sz="1150" dirty="0"/>
          </a:p>
        </p:txBody>
      </p:sp>
      <p:pic>
        <p:nvPicPr>
          <p:cNvPr id="6" name="Image 0" descr="preencoded.png">    </p:cNvPr>
          <p:cNvPicPr>
            <a:picLocks noChangeAspect="1"/>
          </p:cNvPicPr>
          <p:nvPr/>
        </p:nvPicPr>
        <p:blipFill>
          <a:blip r:embed="rId1"/>
          <a:stretch>
            <a:fillRect/>
          </a:stretch>
        </p:blipFill>
        <p:spPr>
          <a:xfrm>
            <a:off x="884711" y="2703711"/>
            <a:ext cx="5537359" cy="2376388"/>
          </a:xfrm>
          <a:prstGeom prst="rect">
            <a:avLst/>
          </a:prstGeom>
        </p:spPr>
      </p:pic>
      <p:sp>
        <p:nvSpPr>
          <p:cNvPr id="7" name="Text 4"/>
          <p:cNvSpPr/>
          <p:nvPr/>
        </p:nvSpPr>
        <p:spPr>
          <a:xfrm>
            <a:off x="884711" y="5230813"/>
            <a:ext cx="6762283" cy="180975"/>
          </a:xfrm>
          <a:prstGeom prst="rect">
            <a:avLst/>
          </a:prstGeom>
          <a:noFill/>
          <a:ln/>
        </p:spPr>
        <p:txBody>
          <a:bodyPr wrap="none" lIns="0" tIns="0" rIns="0" bIns="0" rtlCol="0" anchor="t"/>
          <a:lstStyle/>
          <a:p>
            <a:pPr algn="l" indent="0" marL="0">
              <a:lnSpc>
                <a:spcPct val="127000"/>
              </a:lnSpc>
              <a:buNone/>
            </a:pPr>
            <a:endParaRPr lang="en-US" sz="900" dirty="0"/>
          </a:p>
        </p:txBody>
      </p:sp>
      <p:sp>
        <p:nvSpPr>
          <p:cNvPr id="8" name="Shape 5"/>
          <p:cNvSpPr/>
          <p:nvPr/>
        </p:nvSpPr>
        <p:spPr>
          <a:xfrm>
            <a:off x="661475" y="1753791"/>
            <a:ext cx="19050" cy="3778548"/>
          </a:xfrm>
          <a:prstGeom prst="roundRect">
            <a:avLst>
              <a:gd name="adj" fmla="val 49999"/>
            </a:avLst>
          </a:prstGeom>
          <a:solidFill>
            <a:srgbClr val="A034FE"/>
          </a:solidFill>
          <a:ln/>
        </p:spPr>
      </p:sp>
      <p:sp>
        <p:nvSpPr>
          <p:cNvPr id="9" name="Text 6"/>
          <p:cNvSpPr/>
          <p:nvPr/>
        </p:nvSpPr>
        <p:spPr>
          <a:xfrm>
            <a:off x="661475" y="5683052"/>
            <a:ext cx="6985520" cy="180975"/>
          </a:xfrm>
          <a:prstGeom prst="rect">
            <a:avLst/>
          </a:prstGeom>
          <a:noFill/>
          <a:ln/>
        </p:spPr>
        <p:txBody>
          <a:bodyPr wrap="none" lIns="0" tIns="0" rIns="0" bIns="0" rtlCol="0" anchor="t"/>
          <a:lstStyle/>
          <a:p>
            <a:pPr algn="l" indent="0" marL="0">
              <a:lnSpc>
                <a:spcPct val="127000"/>
              </a:lnSpc>
              <a:buNone/>
            </a:pPr>
            <a:endParaRPr lang="en-US" sz="900" dirty="0"/>
          </a:p>
        </p:txBody>
      </p:sp>
      <p:sp>
        <p:nvSpPr>
          <p:cNvPr id="10" name="Shape 7"/>
          <p:cNvSpPr/>
          <p:nvPr/>
        </p:nvSpPr>
        <p:spPr>
          <a:xfrm>
            <a:off x="7299738" y="1603077"/>
            <a:ext cx="4343887" cy="4597598"/>
          </a:xfrm>
          <a:prstGeom prst="roundRect">
            <a:avLst>
              <a:gd name="adj" fmla="val 514"/>
            </a:avLst>
          </a:prstGeom>
          <a:solidFill>
            <a:srgbClr val="6F24B1"/>
          </a:solidFill>
          <a:ln/>
        </p:spPr>
      </p:sp>
      <p:sp>
        <p:nvSpPr>
          <p:cNvPr id="11" name="Text 8"/>
          <p:cNvSpPr/>
          <p:nvPr/>
        </p:nvSpPr>
        <p:spPr>
          <a:xfrm>
            <a:off x="7448562" y="1737023"/>
            <a:ext cx="4046238" cy="232470"/>
          </a:xfrm>
          <a:prstGeom prst="rect">
            <a:avLst/>
          </a:prstGeom>
          <a:noFill/>
          <a:ln/>
        </p:spPr>
        <p:txBody>
          <a:bodyPr wrap="none" lIns="0" tIns="0" rIns="0" bIns="0" rtlCol="0" anchor="t"/>
          <a:lstStyle/>
          <a:p>
            <a:pPr algn="l" indent="0" marL="0">
              <a:lnSpc>
                <a:spcPct val="104000"/>
              </a:lnSpc>
              <a:buNone/>
            </a:pPr>
            <a:r>
              <a:rPr lang="en-US" sz="1450" dirty="0">
                <a:solidFill>
                  <a:srgbClr val="FFFFFF"/>
                </a:solidFill>
                <a:latin typeface="Crimson Pro SemiBold" pitchFamily="34" charset="0"/>
                <a:ea typeface="Crimson Pro SemiBold" pitchFamily="34" charset="-122"/>
                <a:cs typeface="Crimson Pro SemiBold" pitchFamily="34" charset="-120"/>
              </a:rPr>
              <a:t>Resultado del Forecast</a:t>
            </a:r>
            <a:endParaRPr lang="en-US" sz="1450" dirty="0"/>
          </a:p>
        </p:txBody>
      </p:sp>
      <p:sp>
        <p:nvSpPr>
          <p:cNvPr id="12" name="Text 9"/>
          <p:cNvSpPr/>
          <p:nvPr/>
        </p:nvSpPr>
        <p:spPr>
          <a:xfrm>
            <a:off x="7448562" y="2023070"/>
            <a:ext cx="4046238" cy="232470"/>
          </a:xfrm>
          <a:prstGeom prst="rect">
            <a:avLst/>
          </a:prstGeom>
          <a:noFill/>
          <a:ln/>
        </p:spPr>
        <p:txBody>
          <a:bodyPr wrap="none" lIns="0" tIns="0" rIns="0" bIns="0" rtlCol="0" anchor="t"/>
          <a:lstStyle/>
          <a:p>
            <a:pPr algn="l" indent="0" marL="0">
              <a:lnSpc>
                <a:spcPct val="104000"/>
              </a:lnSpc>
              <a:buNone/>
            </a:pPr>
            <a:r>
              <a:rPr lang="en-US" sz="1450" dirty="0">
                <a:solidFill>
                  <a:srgbClr val="FFFFFF"/>
                </a:solidFill>
                <a:latin typeface="Crimson Pro SemiBold" pitchFamily="34" charset="0"/>
                <a:ea typeface="Crimson Pro SemiBold" pitchFamily="34" charset="-122"/>
                <a:cs typeface="Crimson Pro SemiBold" pitchFamily="34" charset="-120"/>
              </a:rPr>
              <a:t>1 de enero de 2023</a:t>
            </a:r>
            <a:endParaRPr lang="en-US" sz="1450" dirty="0"/>
          </a:p>
        </p:txBody>
      </p:sp>
      <p:sp>
        <p:nvSpPr>
          <p:cNvPr id="13" name="Text 10"/>
          <p:cNvSpPr/>
          <p:nvPr/>
        </p:nvSpPr>
        <p:spPr>
          <a:xfrm>
            <a:off x="7448562" y="2389485"/>
            <a:ext cx="4046238" cy="641945"/>
          </a:xfrm>
          <a:prstGeom prst="rect">
            <a:avLst/>
          </a:prstGeom>
          <a:noFill/>
          <a:ln/>
        </p:spPr>
        <p:txBody>
          <a:bodyPr wrap="none" lIns="0" tIns="0" rIns="0" bIns="0" rtlCol="0" anchor="t"/>
          <a:lstStyle/>
          <a:p>
            <a:pPr algn="l" indent="0" marL="0">
              <a:lnSpc>
                <a:spcPct val="104000"/>
              </a:lnSpc>
              <a:buNone/>
            </a:pPr>
            <a:r>
              <a:rPr lang="en-US" sz="4000" dirty="0">
                <a:solidFill>
                  <a:srgbClr val="FFFFFF"/>
                </a:solidFill>
                <a:latin typeface="Crimson Pro SemiBold" pitchFamily="34" charset="0"/>
                <a:ea typeface="Crimson Pro SemiBold" pitchFamily="34" charset="-122"/>
                <a:cs typeface="Crimson Pro SemiBold" pitchFamily="34" charset="-120"/>
              </a:rPr>
              <a:t>$3.897,69</a:t>
            </a:r>
            <a:endParaRPr lang="en-US" sz="4000" dirty="0"/>
          </a:p>
        </p:txBody>
      </p:sp>
      <p:sp>
        <p:nvSpPr>
          <p:cNvPr id="14" name="Shape 11"/>
          <p:cNvSpPr/>
          <p:nvPr/>
        </p:nvSpPr>
        <p:spPr>
          <a:xfrm>
            <a:off x="7448562" y="3219351"/>
            <a:ext cx="4046238" cy="19050"/>
          </a:xfrm>
          <a:prstGeom prst="roundRect">
            <a:avLst>
              <a:gd name="adj" fmla="val 49999"/>
            </a:avLst>
          </a:prstGeom>
          <a:solidFill>
            <a:srgbClr val="FFFFFF">
              <a:alpha val="50000"/>
            </a:srgbClr>
          </a:solidFill>
          <a:ln/>
        </p:spPr>
      </p:sp>
      <p:sp>
        <p:nvSpPr>
          <p:cNvPr id="15" name="Text 12"/>
          <p:cNvSpPr/>
          <p:nvPr/>
        </p:nvSpPr>
        <p:spPr>
          <a:xfrm>
            <a:off x="7448562" y="3426321"/>
            <a:ext cx="4046238" cy="232470"/>
          </a:xfrm>
          <a:prstGeom prst="rect">
            <a:avLst/>
          </a:prstGeom>
          <a:noFill/>
          <a:ln/>
        </p:spPr>
        <p:txBody>
          <a:bodyPr wrap="none" lIns="0" tIns="0" rIns="0" bIns="0" rtlCol="0" anchor="t"/>
          <a:lstStyle/>
          <a:p>
            <a:pPr algn="l" indent="0" marL="0">
              <a:lnSpc>
                <a:spcPct val="104000"/>
              </a:lnSpc>
              <a:buNone/>
            </a:pPr>
            <a:r>
              <a:rPr lang="en-US" sz="1450" dirty="0">
                <a:solidFill>
                  <a:srgbClr val="FFFFFF"/>
                </a:solidFill>
                <a:latin typeface="Crimson Pro SemiBold" pitchFamily="34" charset="0"/>
                <a:ea typeface="Crimson Pro SemiBold" pitchFamily="34" charset="-122"/>
                <a:cs typeface="Crimson Pro SemiBold" pitchFamily="34" charset="-120"/>
              </a:rPr>
              <a:t>Desviación estándar estimada</a:t>
            </a:r>
            <a:endParaRPr lang="en-US" sz="1450" dirty="0"/>
          </a:p>
        </p:txBody>
      </p:sp>
      <p:sp>
        <p:nvSpPr>
          <p:cNvPr id="16" name="Text 13"/>
          <p:cNvSpPr/>
          <p:nvPr/>
        </p:nvSpPr>
        <p:spPr>
          <a:xfrm>
            <a:off x="7448562" y="3792736"/>
            <a:ext cx="4046238" cy="641945"/>
          </a:xfrm>
          <a:prstGeom prst="rect">
            <a:avLst/>
          </a:prstGeom>
          <a:noFill/>
          <a:ln/>
        </p:spPr>
        <p:txBody>
          <a:bodyPr wrap="none" lIns="0" tIns="0" rIns="0" bIns="0" rtlCol="0" anchor="t"/>
          <a:lstStyle/>
          <a:p>
            <a:pPr algn="l" indent="0" marL="0">
              <a:lnSpc>
                <a:spcPct val="104000"/>
              </a:lnSpc>
              <a:buNone/>
            </a:pPr>
            <a:r>
              <a:rPr lang="en-US" sz="4000" dirty="0">
                <a:solidFill>
                  <a:srgbClr val="FFFFFF"/>
                </a:solidFill>
                <a:latin typeface="Crimson Pro SemiBold" pitchFamily="34" charset="0"/>
                <a:ea typeface="Crimson Pro SemiBold" pitchFamily="34" charset="-122"/>
                <a:cs typeface="Crimson Pro SemiBold" pitchFamily="34" charset="-120"/>
              </a:rPr>
              <a:t>± $308,48</a:t>
            </a:r>
            <a:endParaRPr lang="en-US" sz="4000" dirty="0"/>
          </a:p>
        </p:txBody>
      </p:sp>
      <p:sp>
        <p:nvSpPr>
          <p:cNvPr id="17" name="Shape 14"/>
          <p:cNvSpPr/>
          <p:nvPr/>
        </p:nvSpPr>
        <p:spPr>
          <a:xfrm>
            <a:off x="7448562" y="4622602"/>
            <a:ext cx="4046238" cy="19050"/>
          </a:xfrm>
          <a:prstGeom prst="roundRect">
            <a:avLst>
              <a:gd name="adj" fmla="val 49999"/>
            </a:avLst>
          </a:prstGeom>
          <a:solidFill>
            <a:srgbClr val="FFFFFF">
              <a:alpha val="50000"/>
            </a:srgbClr>
          </a:solidFill>
          <a:ln/>
        </p:spPr>
      </p:sp>
      <p:sp>
        <p:nvSpPr>
          <p:cNvPr id="18" name="Shape 15"/>
          <p:cNvSpPr/>
          <p:nvPr/>
        </p:nvSpPr>
        <p:spPr>
          <a:xfrm>
            <a:off x="7448562" y="4829572"/>
            <a:ext cx="4046238" cy="1220391"/>
          </a:xfrm>
          <a:prstGeom prst="roundRect">
            <a:avLst>
              <a:gd name="adj" fmla="val 1830"/>
            </a:avLst>
          </a:prstGeom>
          <a:solidFill>
            <a:srgbClr val="3F1464"/>
          </a:solidFill>
          <a:ln/>
        </p:spPr>
      </p:sp>
      <p:pic>
        <p:nvPicPr>
          <p:cNvPr id="19" name="Image 1" descr="preencoded.png">    </p:cNvPr>
          <p:cNvPicPr>
            <a:picLocks noChangeAspect="1"/>
          </p:cNvPicPr>
          <p:nvPr/>
        </p:nvPicPr>
        <p:blipFill>
          <a:blip r:embed="rId2"/>
          <a:stretch>
            <a:fillRect/>
          </a:stretch>
        </p:blipFill>
        <p:spPr>
          <a:xfrm>
            <a:off x="7597386" y="5044083"/>
            <a:ext cx="186031" cy="148828"/>
          </a:xfrm>
          <a:prstGeom prst="rect">
            <a:avLst/>
          </a:prstGeom>
        </p:spPr>
      </p:pic>
      <p:sp>
        <p:nvSpPr>
          <p:cNvPr id="20" name="Text 16"/>
          <p:cNvSpPr/>
          <p:nvPr/>
        </p:nvSpPr>
        <p:spPr>
          <a:xfrm>
            <a:off x="7932241" y="4987330"/>
            <a:ext cx="3413734" cy="904875"/>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FFFFFF"/>
                </a:solidFill>
                <a:latin typeface="Heebo" pitchFamily="34" charset="0"/>
                <a:ea typeface="Heebo" pitchFamily="34" charset="-122"/>
                <a:cs typeface="Heebo" pitchFamily="34" charset="-120"/>
              </a:rPr>
              <a:t>El pronóstico mantiene la tendencia observada al cierre de la serie. La desviación estándar refleja la incertidumbre esperada del modelo y permite estimar un rango probable para la TCRM.</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1588195"/>
            <a:ext cx="1371169" cy="251420"/>
          </a:xfrm>
          <a:prstGeom prst="roundRect">
            <a:avLst>
              <a:gd name="adj" fmla="val 7894"/>
            </a:avLst>
          </a:prstGeom>
          <a:noFill/>
          <a:ln w="6350">
            <a:solidFill>
              <a:srgbClr val="A034FE"/>
            </a:solidFill>
            <a:prstDash val="solid"/>
          </a:ln>
        </p:spPr>
      </p:sp>
      <p:sp>
        <p:nvSpPr>
          <p:cNvPr id="3" name="Text 1"/>
          <p:cNvSpPr/>
          <p:nvPr/>
        </p:nvSpPr>
        <p:spPr>
          <a:xfrm>
            <a:off x="760691" y="1637804"/>
            <a:ext cx="1782321" cy="152202"/>
          </a:xfrm>
          <a:prstGeom prst="rect">
            <a:avLst/>
          </a:prstGeom>
          <a:noFill/>
          <a:ln/>
        </p:spPr>
        <p:txBody>
          <a:bodyPr wrap="none" lIns="0" tIns="0" rIns="0" bIns="0" rtlCol="0" anchor="t"/>
          <a:lstStyle/>
          <a:p>
            <a:pPr algn="l" indent="0" marL="0">
              <a:lnSpc>
                <a:spcPct val="96000"/>
              </a:lnSpc>
              <a:buNone/>
            </a:pPr>
            <a:r>
              <a:rPr lang="en-US" sz="1000" dirty="0">
                <a:solidFill>
                  <a:srgbClr val="A034FE"/>
                </a:solidFill>
                <a:latin typeface="Heebo" pitchFamily="34" charset="0"/>
                <a:ea typeface="Heebo" pitchFamily="34" charset="-122"/>
                <a:cs typeface="Heebo" pitchFamily="34" charset="-120"/>
              </a:rPr>
              <a:t>ANALÍTICA DIGITAL</a:t>
            </a:r>
            <a:endParaRPr lang="en-US" sz="1000" dirty="0"/>
          </a:p>
        </p:txBody>
      </p:sp>
      <p:sp>
        <p:nvSpPr>
          <p:cNvPr id="4" name="Text 2"/>
          <p:cNvSpPr/>
          <p:nvPr/>
        </p:nvSpPr>
        <p:spPr>
          <a:xfrm>
            <a:off x="661475" y="1905695"/>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3F1464"/>
                </a:solidFill>
                <a:latin typeface="Crimson Pro SemiBold" pitchFamily="34" charset="0"/>
                <a:ea typeface="Crimson Pro SemiBold" pitchFamily="34" charset="-122"/>
                <a:cs typeface="Crimson Pro SemiBold" pitchFamily="34" charset="-120"/>
              </a:rPr>
              <a:t>Validación de conocimientos en Analítica Digital</a:t>
            </a:r>
            <a:endParaRPr lang="en-US" sz="3250" dirty="0"/>
          </a:p>
        </p:txBody>
      </p:sp>
      <p:sp>
        <p:nvSpPr>
          <p:cNvPr id="5" name="Text 3"/>
          <p:cNvSpPr/>
          <p:nvPr/>
        </p:nvSpPr>
        <p:spPr>
          <a:xfrm>
            <a:off x="661475" y="2670473"/>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4C4C4D"/>
                </a:solidFill>
                <a:latin typeface="Heebo" pitchFamily="34" charset="0"/>
                <a:ea typeface="Heebo" pitchFamily="34" charset="-122"/>
                <a:cs typeface="Heebo" pitchFamily="34" charset="-120"/>
              </a:rPr>
              <a:t>Se resolvieron preguntas orientadas a conceptos fundamentales de medición digital, gestión de etiquetas y atribución de tráfico.</a:t>
            </a:r>
            <a:endParaRPr lang="en-US" sz="1300" dirty="0"/>
          </a:p>
        </p:txBody>
      </p:sp>
      <p:sp>
        <p:nvSpPr>
          <p:cNvPr id="6" name="Shape 4"/>
          <p:cNvSpPr/>
          <p:nvPr/>
        </p:nvSpPr>
        <p:spPr>
          <a:xfrm>
            <a:off x="661475" y="3121124"/>
            <a:ext cx="3512653" cy="2148681"/>
          </a:xfrm>
          <a:prstGeom prst="roundRect">
            <a:avLst>
              <a:gd name="adj" fmla="val 1155"/>
            </a:avLst>
          </a:prstGeom>
          <a:solidFill>
            <a:srgbClr val="FFFFFF"/>
          </a:solidFill>
          <a:ln w="19050">
            <a:solidFill>
              <a:srgbClr val="D8D4D4"/>
            </a:solidFill>
            <a:prstDash val="solid"/>
          </a:ln>
        </p:spPr>
      </p:sp>
      <p:sp>
        <p:nvSpPr>
          <p:cNvPr id="7" name="Text 5"/>
          <p:cNvSpPr/>
          <p:nvPr/>
        </p:nvSpPr>
        <p:spPr>
          <a:xfrm>
            <a:off x="845819" y="3305473"/>
            <a:ext cx="3143965" cy="258465"/>
          </a:xfrm>
          <a:prstGeom prst="rect">
            <a:avLst/>
          </a:prstGeom>
          <a:noFill/>
          <a:ln/>
        </p:spPr>
        <p:txBody>
          <a:bodyPr wrap="none" lIns="0" tIns="0" rIns="0" bIns="0" rtlCol="0" anchor="t"/>
          <a:lstStyle/>
          <a:p>
            <a:pPr algn="l" indent="0" marL="0">
              <a:lnSpc>
                <a:spcPct val="104000"/>
              </a:lnSpc>
              <a:buNone/>
            </a:pPr>
            <a:r>
              <a:rPr lang="en-US" sz="1600" dirty="0">
                <a:solidFill>
                  <a:srgbClr val="3F1464"/>
                </a:solidFill>
                <a:latin typeface="Crimson Pro SemiBold" pitchFamily="34" charset="0"/>
                <a:ea typeface="Crimson Pro SemiBold" pitchFamily="34" charset="-122"/>
                <a:cs typeface="Crimson Pro SemiBold" pitchFamily="34" charset="-120"/>
              </a:rPr>
              <a:t>3.1 Bounce Rate</a:t>
            </a:r>
            <a:endParaRPr lang="en-US" sz="1600" dirty="0"/>
          </a:p>
        </p:txBody>
      </p:sp>
      <p:sp>
        <p:nvSpPr>
          <p:cNvPr id="8" name="Text 6"/>
          <p:cNvSpPr/>
          <p:nvPr/>
        </p:nvSpPr>
        <p:spPr>
          <a:xfrm>
            <a:off x="845819" y="3663156"/>
            <a:ext cx="3143965" cy="1157684"/>
          </a:xfrm>
          <a:prstGeom prst="rect">
            <a:avLst/>
          </a:prstGeom>
          <a:noFill/>
          <a:ln/>
        </p:spPr>
        <p:txBody>
          <a:bodyPr wrap="square" lIns="0" tIns="0" rIns="0" bIns="0" rtlCol="0" anchor="t"/>
          <a:lstStyle/>
          <a:p>
            <a:pPr algn="l" indent="0" marL="0">
              <a:lnSpc>
                <a:spcPct val="133000"/>
              </a:lnSpc>
              <a:spcAft>
                <a:spcPts val="750"/>
              </a:spcAft>
              <a:buNone/>
            </a:pPr>
            <a:r>
              <a:rPr lang="en-US" sz="1300" b="1" dirty="0">
                <a:solidFill>
                  <a:srgbClr val="4C4C4D"/>
                </a:solidFill>
                <a:latin typeface="Heebo Bold" pitchFamily="34" charset="0"/>
                <a:ea typeface="Heebo Bold" pitchFamily="34" charset="-122"/>
                <a:cs typeface="Heebo Bold" pitchFamily="34" charset="-120"/>
              </a:rPr>
              <a:t>Respuesta:</a:t>
            </a:r>
            <a:pPr algn="l" indent="0" marL="0">
              <a:lnSpc>
                <a:spcPct val="133000"/>
              </a:lnSpc>
              <a:spcAft>
                <a:spcPts val="750"/>
              </a:spcAft>
              <a:buNone/>
            </a:pPr>
            <a:r>
              <a:rPr lang="en-US" sz="1300" dirty="0">
                <a:solidFill>
                  <a:srgbClr val="4C4C4D"/>
                </a:solidFill>
                <a:latin typeface="Heebo" pitchFamily="34" charset="0"/>
                <a:ea typeface="Heebo" pitchFamily="34" charset="-122"/>
                <a:cs typeface="Heebo" pitchFamily="34" charset="-120"/>
              </a:rPr>
              <a:t> </a:t>
            </a:r>
            <a:pPr algn="l" indent="0" marL="0">
              <a:lnSpc>
                <a:spcPct val="133000"/>
              </a:lnSpc>
              <a:spcAft>
                <a:spcPts val="750"/>
              </a:spcAft>
              <a:buNone/>
            </a:pPr>
            <a:r>
              <a:rPr lang="en-US" sz="1300" b="1" dirty="0">
                <a:solidFill>
                  <a:srgbClr val="4C4C4D"/>
                </a:solidFill>
                <a:latin typeface="Heebo Bold" pitchFamily="34" charset="0"/>
                <a:ea typeface="Heebo Bold" pitchFamily="34" charset="-122"/>
                <a:cs typeface="Heebo Bold" pitchFamily="34" charset="-120"/>
              </a:rPr>
              <a:t>B</a:t>
            </a:r>
            <a:endParaRPr lang="en-US" sz="1300" dirty="0"/>
          </a:p>
          <a:p>
            <a:pPr algn="l" indent="0" marL="0">
              <a:lnSpc>
                <a:spcPct val="133000"/>
              </a:lnSpc>
              <a:buNone/>
            </a:pPr>
            <a:r>
              <a:rPr lang="en-US" sz="1300" dirty="0">
                <a:solidFill>
                  <a:srgbClr val="4C4C4D"/>
                </a:solidFill>
                <a:latin typeface="Heebo" pitchFamily="34" charset="0"/>
                <a:ea typeface="Heebo" pitchFamily="34" charset="-122"/>
                <a:cs typeface="Heebo" pitchFamily="34" charset="-120"/>
              </a:rPr>
              <a:t>Se identificó correctamente la diferencia entre el porcentaje de rebote y la métrica de tiempo de permanencia en el sitio.</a:t>
            </a:r>
            <a:endParaRPr lang="en-US" sz="1300" dirty="0"/>
          </a:p>
        </p:txBody>
      </p:sp>
      <p:sp>
        <p:nvSpPr>
          <p:cNvPr id="9" name="Shape 7"/>
          <p:cNvSpPr/>
          <p:nvPr/>
        </p:nvSpPr>
        <p:spPr>
          <a:xfrm>
            <a:off x="4339422" y="3121124"/>
            <a:ext cx="3512752" cy="2148681"/>
          </a:xfrm>
          <a:prstGeom prst="roundRect">
            <a:avLst>
              <a:gd name="adj" fmla="val 1155"/>
            </a:avLst>
          </a:prstGeom>
          <a:solidFill>
            <a:srgbClr val="FFFFFF"/>
          </a:solidFill>
          <a:ln w="19050">
            <a:solidFill>
              <a:srgbClr val="D8D4D4"/>
            </a:solidFill>
            <a:prstDash val="solid"/>
          </a:ln>
        </p:spPr>
      </p:sp>
      <p:sp>
        <p:nvSpPr>
          <p:cNvPr id="10" name="Text 8"/>
          <p:cNvSpPr/>
          <p:nvPr/>
        </p:nvSpPr>
        <p:spPr>
          <a:xfrm>
            <a:off x="4523766" y="3305473"/>
            <a:ext cx="3144064" cy="258465"/>
          </a:xfrm>
          <a:prstGeom prst="rect">
            <a:avLst/>
          </a:prstGeom>
          <a:noFill/>
          <a:ln/>
        </p:spPr>
        <p:txBody>
          <a:bodyPr wrap="none" lIns="0" tIns="0" rIns="0" bIns="0" rtlCol="0" anchor="t"/>
          <a:lstStyle/>
          <a:p>
            <a:pPr algn="l" indent="0" marL="0">
              <a:lnSpc>
                <a:spcPct val="104000"/>
              </a:lnSpc>
              <a:buNone/>
            </a:pPr>
            <a:r>
              <a:rPr lang="en-US" sz="1600" dirty="0">
                <a:solidFill>
                  <a:srgbClr val="3F1464"/>
                </a:solidFill>
                <a:latin typeface="Crimson Pro SemiBold" pitchFamily="34" charset="0"/>
                <a:ea typeface="Crimson Pro SemiBold" pitchFamily="34" charset="-122"/>
                <a:cs typeface="Crimson Pro SemiBold" pitchFamily="34" charset="-120"/>
              </a:rPr>
              <a:t>3.2 Google Tag Manager</a:t>
            </a:r>
            <a:endParaRPr lang="en-US" sz="1600" dirty="0"/>
          </a:p>
        </p:txBody>
      </p:sp>
      <p:sp>
        <p:nvSpPr>
          <p:cNvPr id="11" name="Text 9"/>
          <p:cNvSpPr/>
          <p:nvPr/>
        </p:nvSpPr>
        <p:spPr>
          <a:xfrm>
            <a:off x="4523766" y="3663156"/>
            <a:ext cx="3144064" cy="1422301"/>
          </a:xfrm>
          <a:prstGeom prst="rect">
            <a:avLst/>
          </a:prstGeom>
          <a:noFill/>
          <a:ln/>
        </p:spPr>
        <p:txBody>
          <a:bodyPr wrap="square" lIns="0" tIns="0" rIns="0" bIns="0" rtlCol="0" anchor="t"/>
          <a:lstStyle/>
          <a:p>
            <a:pPr algn="l" indent="0" marL="0">
              <a:lnSpc>
                <a:spcPct val="133000"/>
              </a:lnSpc>
              <a:spcAft>
                <a:spcPts val="750"/>
              </a:spcAft>
              <a:buNone/>
            </a:pPr>
            <a:r>
              <a:rPr lang="en-US" sz="1300" b="1" dirty="0">
                <a:solidFill>
                  <a:srgbClr val="4C4C4D"/>
                </a:solidFill>
                <a:latin typeface="Heebo Bold" pitchFamily="34" charset="0"/>
                <a:ea typeface="Heebo Bold" pitchFamily="34" charset="-122"/>
                <a:cs typeface="Heebo Bold" pitchFamily="34" charset="-120"/>
              </a:rPr>
              <a:t>Respuestas:</a:t>
            </a:r>
            <a:pPr algn="l" indent="0" marL="0">
              <a:lnSpc>
                <a:spcPct val="133000"/>
              </a:lnSpc>
              <a:spcAft>
                <a:spcPts val="750"/>
              </a:spcAft>
              <a:buNone/>
            </a:pPr>
            <a:r>
              <a:rPr lang="en-US" sz="1300" dirty="0">
                <a:solidFill>
                  <a:srgbClr val="4C4C4D"/>
                </a:solidFill>
                <a:latin typeface="Heebo" pitchFamily="34" charset="0"/>
                <a:ea typeface="Heebo" pitchFamily="34" charset="-122"/>
                <a:cs typeface="Heebo" pitchFamily="34" charset="-120"/>
              </a:rPr>
              <a:t> </a:t>
            </a:r>
            <a:pPr algn="l" indent="0" marL="0">
              <a:lnSpc>
                <a:spcPct val="133000"/>
              </a:lnSpc>
              <a:spcAft>
                <a:spcPts val="750"/>
              </a:spcAft>
              <a:buNone/>
            </a:pPr>
            <a:r>
              <a:rPr lang="en-US" sz="1300" b="1" dirty="0">
                <a:solidFill>
                  <a:srgbClr val="4C4C4D"/>
                </a:solidFill>
                <a:latin typeface="Heebo Bold" pitchFamily="34" charset="0"/>
                <a:ea typeface="Heebo Bold" pitchFamily="34" charset="-122"/>
                <a:cs typeface="Heebo Bold" pitchFamily="34" charset="-120"/>
              </a:rPr>
              <a:t>A · B · D · E</a:t>
            </a:r>
            <a:endParaRPr lang="en-US" sz="1300" dirty="0"/>
          </a:p>
          <a:p>
            <a:pPr algn="l" indent="0" marL="0">
              <a:lnSpc>
                <a:spcPct val="133000"/>
              </a:lnSpc>
              <a:buNone/>
            </a:pPr>
            <a:r>
              <a:rPr lang="en-US" sz="1300" dirty="0">
                <a:solidFill>
                  <a:srgbClr val="4C4C4D"/>
                </a:solidFill>
                <a:latin typeface="Heebo" pitchFamily="34" charset="0"/>
                <a:ea typeface="Heebo" pitchFamily="34" charset="-122"/>
                <a:cs typeface="Heebo" pitchFamily="34" charset="-120"/>
              </a:rPr>
              <a:t>Se reconocieron las principales ventajas de GTM para la gestión de etiquetas y la implementación de herramientas de medición.</a:t>
            </a:r>
            <a:endParaRPr lang="en-US" sz="1300" dirty="0"/>
          </a:p>
        </p:txBody>
      </p:sp>
      <p:sp>
        <p:nvSpPr>
          <p:cNvPr id="12" name="Shape 10"/>
          <p:cNvSpPr/>
          <p:nvPr/>
        </p:nvSpPr>
        <p:spPr>
          <a:xfrm>
            <a:off x="8017468" y="3121124"/>
            <a:ext cx="3512653" cy="2148681"/>
          </a:xfrm>
          <a:prstGeom prst="roundRect">
            <a:avLst>
              <a:gd name="adj" fmla="val 1155"/>
            </a:avLst>
          </a:prstGeom>
          <a:solidFill>
            <a:srgbClr val="FFFFFF"/>
          </a:solidFill>
          <a:ln w="19050">
            <a:solidFill>
              <a:srgbClr val="D8D4D4"/>
            </a:solidFill>
            <a:prstDash val="solid"/>
          </a:ln>
        </p:spPr>
      </p:sp>
      <p:sp>
        <p:nvSpPr>
          <p:cNvPr id="13" name="Text 11"/>
          <p:cNvSpPr/>
          <p:nvPr/>
        </p:nvSpPr>
        <p:spPr>
          <a:xfrm>
            <a:off x="8201812" y="3305473"/>
            <a:ext cx="3143965" cy="258465"/>
          </a:xfrm>
          <a:prstGeom prst="rect">
            <a:avLst/>
          </a:prstGeom>
          <a:noFill/>
          <a:ln/>
        </p:spPr>
        <p:txBody>
          <a:bodyPr wrap="none" lIns="0" tIns="0" rIns="0" bIns="0" rtlCol="0" anchor="t"/>
          <a:lstStyle/>
          <a:p>
            <a:pPr algn="l" indent="0" marL="0">
              <a:lnSpc>
                <a:spcPct val="104000"/>
              </a:lnSpc>
              <a:buNone/>
            </a:pPr>
            <a:r>
              <a:rPr lang="en-US" sz="1600" dirty="0">
                <a:solidFill>
                  <a:srgbClr val="3F1464"/>
                </a:solidFill>
                <a:latin typeface="Crimson Pro SemiBold" pitchFamily="34" charset="0"/>
                <a:ea typeface="Crimson Pro SemiBold" pitchFamily="34" charset="-122"/>
                <a:cs typeface="Crimson Pro SemiBold" pitchFamily="34" charset="-120"/>
              </a:rPr>
              <a:t>3.3 Google Analytics</a:t>
            </a:r>
            <a:endParaRPr lang="en-US" sz="1600" dirty="0"/>
          </a:p>
        </p:txBody>
      </p:sp>
      <p:sp>
        <p:nvSpPr>
          <p:cNvPr id="14" name="Text 12"/>
          <p:cNvSpPr/>
          <p:nvPr/>
        </p:nvSpPr>
        <p:spPr>
          <a:xfrm>
            <a:off x="8201812" y="3663156"/>
            <a:ext cx="3143965" cy="1256903"/>
          </a:xfrm>
          <a:prstGeom prst="rect">
            <a:avLst/>
          </a:prstGeom>
          <a:noFill/>
          <a:ln/>
        </p:spPr>
        <p:txBody>
          <a:bodyPr wrap="square" lIns="0" tIns="0" rIns="0" bIns="0" rtlCol="0" anchor="t"/>
          <a:lstStyle/>
          <a:p>
            <a:pPr algn="l" indent="0" marL="0">
              <a:lnSpc>
                <a:spcPct val="133000"/>
              </a:lnSpc>
              <a:spcAft>
                <a:spcPts val="750"/>
              </a:spcAft>
              <a:buNone/>
            </a:pPr>
            <a:r>
              <a:rPr lang="en-US" sz="1300" b="1" dirty="0">
                <a:solidFill>
                  <a:srgbClr val="4C4C4D"/>
                </a:solidFill>
                <a:latin typeface="Heebo Bold" pitchFamily="34" charset="0"/>
                <a:ea typeface="Heebo Bold" pitchFamily="34" charset="-122"/>
                <a:cs typeface="Heebo Bold" pitchFamily="34" charset="-120"/>
              </a:rPr>
              <a:t>Respuestas:</a:t>
            </a:r>
            <a:pPr algn="l" indent="0" marL="0">
              <a:lnSpc>
                <a:spcPct val="133000"/>
              </a:lnSpc>
              <a:spcAft>
                <a:spcPts val="750"/>
              </a:spcAft>
              <a:buNone/>
            </a:pPr>
            <a:r>
              <a:rPr lang="en-US" sz="1300" dirty="0">
                <a:solidFill>
                  <a:srgbClr val="4C4C4D"/>
                </a:solidFill>
                <a:latin typeface="Heebo" pitchFamily="34" charset="0"/>
                <a:ea typeface="Heebo" pitchFamily="34" charset="-122"/>
                <a:cs typeface="Heebo" pitchFamily="34" charset="-120"/>
              </a:rPr>
              <a:t> </a:t>
            </a:r>
            <a:pPr algn="l" indent="0" marL="0">
              <a:lnSpc>
                <a:spcPct val="133000"/>
              </a:lnSpc>
              <a:spcAft>
                <a:spcPts val="750"/>
              </a:spcAft>
              <a:buNone/>
            </a:pPr>
            <a:r>
              <a:rPr lang="en-US" sz="1300" b="1" dirty="0">
                <a:solidFill>
                  <a:srgbClr val="4C4C4D"/>
                </a:solidFill>
                <a:latin typeface="Heebo Bold" pitchFamily="34" charset="0"/>
                <a:ea typeface="Heebo Bold" pitchFamily="34" charset="-122"/>
                <a:cs typeface="Heebo Bold" pitchFamily="34" charset="-120"/>
              </a:rPr>
              <a:t>A · C · D · E · F · G</a:t>
            </a:r>
            <a:endParaRPr lang="en-US" sz="1300" dirty="0"/>
          </a:p>
          <a:p>
            <a:pPr algn="l" indent="0" marL="0">
              <a:lnSpc>
                <a:spcPct val="133000"/>
              </a:lnSpc>
              <a:spcAft>
                <a:spcPts val="750"/>
              </a:spcAft>
              <a:buNone/>
            </a:pPr>
            <a:r>
              <a:rPr lang="en-US" sz="1300" b="1" dirty="0">
                <a:solidFill>
                  <a:srgbClr val="4C4C4D"/>
                </a:solidFill>
                <a:latin typeface="Heebo Bold" pitchFamily="34" charset="0"/>
                <a:ea typeface="Heebo Bold" pitchFamily="34" charset="-122"/>
                <a:cs typeface="Heebo Bold" pitchFamily="34" charset="-120"/>
              </a:rPr>
              <a:t>Canales de tráfico identificados</a:t>
            </a:r>
            <a:endParaRPr lang="en-US" sz="1300" dirty="0"/>
          </a:p>
          <a:p>
            <a:pPr algn="l" indent="0" marL="0">
              <a:lnSpc>
                <a:spcPct val="133000"/>
              </a:lnSpc>
              <a:buNone/>
            </a:pPr>
            <a:r>
              <a:rPr lang="en-US" sz="1300" dirty="0">
                <a:solidFill>
                  <a:srgbClr val="4C4C4D"/>
                </a:solidFill>
                <a:latin typeface="Heebo" pitchFamily="34" charset="0"/>
                <a:ea typeface="Heebo" pitchFamily="34" charset="-122"/>
                <a:cs typeface="Heebo" pitchFamily="34" charset="-120"/>
              </a:rPr>
              <a:t>• Direct • Organic Search • Social • Paid Search • Referral • Email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463748"/>
            <a:ext cx="1377816" cy="213717"/>
          </a:xfrm>
          <a:prstGeom prst="roundRect">
            <a:avLst>
              <a:gd name="adj" fmla="val 7894"/>
            </a:avLst>
          </a:prstGeom>
          <a:noFill/>
          <a:ln w="6350">
            <a:solidFill>
              <a:srgbClr val="A034FE"/>
            </a:solidFill>
            <a:prstDash val="solid"/>
          </a:ln>
        </p:spPr>
      </p:sp>
      <p:sp>
        <p:nvSpPr>
          <p:cNvPr id="3" name="Text 1"/>
          <p:cNvSpPr/>
          <p:nvPr/>
        </p:nvSpPr>
        <p:spPr>
          <a:xfrm>
            <a:off x="745809" y="505916"/>
            <a:ext cx="1818733" cy="129381"/>
          </a:xfrm>
          <a:prstGeom prst="rect">
            <a:avLst/>
          </a:prstGeom>
          <a:noFill/>
          <a:ln/>
        </p:spPr>
        <p:txBody>
          <a:bodyPr wrap="none" lIns="0" tIns="0" rIns="0" bIns="0" rtlCol="0" anchor="t"/>
          <a:lstStyle/>
          <a:p>
            <a:pPr algn="l" indent="0" marL="0">
              <a:lnSpc>
                <a:spcPct val="96000"/>
              </a:lnSpc>
              <a:buNone/>
            </a:pPr>
            <a:r>
              <a:rPr lang="en-US" sz="850" dirty="0">
                <a:solidFill>
                  <a:srgbClr val="A034FE"/>
                </a:solidFill>
                <a:latin typeface="Heebo" pitchFamily="34" charset="0"/>
                <a:ea typeface="Heebo" pitchFamily="34" charset="-122"/>
                <a:cs typeface="Heebo" pitchFamily="34" charset="-120"/>
              </a:rPr>
              <a:t>ANÁLISIS DE CAMPAÑA</a:t>
            </a:r>
            <a:endParaRPr lang="en-US" sz="850" dirty="0"/>
          </a:p>
        </p:txBody>
      </p:sp>
      <p:sp>
        <p:nvSpPr>
          <p:cNvPr id="4" name="Text 2"/>
          <p:cNvSpPr/>
          <p:nvPr/>
        </p:nvSpPr>
        <p:spPr>
          <a:xfrm>
            <a:off x="661475" y="725190"/>
            <a:ext cx="10868745" cy="439241"/>
          </a:xfrm>
          <a:prstGeom prst="rect">
            <a:avLst/>
          </a:prstGeom>
          <a:noFill/>
          <a:ln/>
        </p:spPr>
        <p:txBody>
          <a:bodyPr wrap="none" lIns="0" tIns="0" rIns="0" bIns="0" rtlCol="0" anchor="t"/>
          <a:lstStyle/>
          <a:p>
            <a:pPr algn="l" indent="0" marL="0">
              <a:lnSpc>
                <a:spcPct val="104000"/>
              </a:lnSpc>
              <a:buNone/>
            </a:pPr>
            <a:r>
              <a:rPr lang="en-US" sz="2750" dirty="0">
                <a:solidFill>
                  <a:srgbClr val="3F1464"/>
                </a:solidFill>
                <a:latin typeface="Crimson Pro SemiBold" pitchFamily="34" charset="0"/>
                <a:ea typeface="Crimson Pro SemiBold" pitchFamily="34" charset="-122"/>
                <a:cs typeface="Crimson Pro SemiBold" pitchFamily="34" charset="-120"/>
              </a:rPr>
              <a:t>Evaluación del Desempeño de la Campaña</a:t>
            </a:r>
            <a:endParaRPr lang="en-US" sz="2750" dirty="0"/>
          </a:p>
        </p:txBody>
      </p:sp>
      <p:sp>
        <p:nvSpPr>
          <p:cNvPr id="5" name="Shape 3"/>
          <p:cNvSpPr/>
          <p:nvPr/>
        </p:nvSpPr>
        <p:spPr>
          <a:xfrm>
            <a:off x="661475" y="1477963"/>
            <a:ext cx="4702256" cy="1227237"/>
          </a:xfrm>
          <a:prstGeom prst="roundRect">
            <a:avLst>
              <a:gd name="adj" fmla="val 1718"/>
            </a:avLst>
          </a:prstGeom>
          <a:solidFill>
            <a:srgbClr val="F2EEEE"/>
          </a:solidFill>
          <a:ln/>
        </p:spPr>
      </p:sp>
      <p:sp>
        <p:nvSpPr>
          <p:cNvPr id="6" name="Text 4"/>
          <p:cNvSpPr/>
          <p:nvPr/>
        </p:nvSpPr>
        <p:spPr>
          <a:xfrm>
            <a:off x="801965" y="1618456"/>
            <a:ext cx="4421275" cy="351433"/>
          </a:xfrm>
          <a:prstGeom prst="rect">
            <a:avLst/>
          </a:prstGeom>
          <a:noFill/>
          <a:ln/>
        </p:spPr>
        <p:txBody>
          <a:bodyPr wrap="none" lIns="0" tIns="0" rIns="0" bIns="0" rtlCol="0" anchor="t"/>
          <a:lstStyle/>
          <a:p>
            <a:pPr algn="ctr" indent="0" marL="0">
              <a:lnSpc>
                <a:spcPct val="104000"/>
              </a:lnSpc>
              <a:buNone/>
            </a:pPr>
            <a:r>
              <a:rPr lang="en-US" sz="2200" dirty="0">
                <a:solidFill>
                  <a:srgbClr val="3F1464"/>
                </a:solidFill>
                <a:latin typeface="Crimson Pro SemiBold" pitchFamily="34" charset="0"/>
                <a:ea typeface="Crimson Pro SemiBold" pitchFamily="34" charset="-122"/>
                <a:cs typeface="Crimson Pro SemiBold" pitchFamily="34" charset="-120"/>
              </a:rPr>
              <a:t>2.400 usuarios</a:t>
            </a:r>
            <a:endParaRPr lang="en-US" sz="2200" dirty="0"/>
          </a:p>
        </p:txBody>
      </p:sp>
      <p:sp>
        <p:nvSpPr>
          <p:cNvPr id="7" name="Text 5"/>
          <p:cNvSpPr/>
          <p:nvPr/>
        </p:nvSpPr>
        <p:spPr>
          <a:xfrm>
            <a:off x="801965" y="2017613"/>
            <a:ext cx="4421275" cy="219571"/>
          </a:xfrm>
          <a:prstGeom prst="rect">
            <a:avLst/>
          </a:prstGeom>
          <a:noFill/>
          <a:ln/>
        </p:spPr>
        <p:txBody>
          <a:bodyPr wrap="none" lIns="0" tIns="0" rIns="0" bIns="0" rtlCol="0" anchor="t"/>
          <a:lstStyle/>
          <a:p>
            <a:pPr algn="ctr"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Alcance total</a:t>
            </a:r>
            <a:endParaRPr lang="en-US" sz="1350" dirty="0"/>
          </a:p>
        </p:txBody>
      </p:sp>
      <p:sp>
        <p:nvSpPr>
          <p:cNvPr id="8" name="Text 6"/>
          <p:cNvSpPr/>
          <p:nvPr/>
        </p:nvSpPr>
        <p:spPr>
          <a:xfrm>
            <a:off x="801965" y="2356644"/>
            <a:ext cx="4421275" cy="208062"/>
          </a:xfrm>
          <a:prstGeom prst="rect">
            <a:avLst/>
          </a:prstGeom>
          <a:noFill/>
          <a:ln/>
        </p:spPr>
        <p:txBody>
          <a:bodyPr wrap="none" lIns="0" tIns="0" rIns="0" bIns="0" rtlCol="0" anchor="t"/>
          <a:lstStyle/>
          <a:p>
            <a:pPr algn="ctr" indent="0" marL="0">
              <a:lnSpc>
                <a:spcPct val="123000"/>
              </a:lnSpc>
              <a:buNone/>
            </a:pPr>
            <a:r>
              <a:rPr lang="en-US" sz="1100" dirty="0">
                <a:solidFill>
                  <a:srgbClr val="4C4C4D"/>
                </a:solidFill>
                <a:latin typeface="Heebo" pitchFamily="34" charset="0"/>
                <a:ea typeface="Heebo" pitchFamily="34" charset="-122"/>
                <a:cs typeface="Heebo" pitchFamily="34" charset="-120"/>
              </a:rPr>
              <a:t>Suma del alcance de las tres publicaciones</a:t>
            </a:r>
            <a:endParaRPr lang="en-US" sz="1100" dirty="0"/>
          </a:p>
        </p:txBody>
      </p:sp>
      <p:sp>
        <p:nvSpPr>
          <p:cNvPr id="9" name="Shape 7"/>
          <p:cNvSpPr/>
          <p:nvPr/>
        </p:nvSpPr>
        <p:spPr>
          <a:xfrm>
            <a:off x="661475" y="2824659"/>
            <a:ext cx="4702256" cy="1227237"/>
          </a:xfrm>
          <a:prstGeom prst="roundRect">
            <a:avLst>
              <a:gd name="adj" fmla="val 1718"/>
            </a:avLst>
          </a:prstGeom>
          <a:solidFill>
            <a:srgbClr val="F2EEEE"/>
          </a:solidFill>
          <a:ln/>
        </p:spPr>
      </p:sp>
      <p:sp>
        <p:nvSpPr>
          <p:cNvPr id="10" name="Text 8"/>
          <p:cNvSpPr/>
          <p:nvPr/>
        </p:nvSpPr>
        <p:spPr>
          <a:xfrm>
            <a:off x="801965" y="2965152"/>
            <a:ext cx="4421275" cy="351433"/>
          </a:xfrm>
          <a:prstGeom prst="rect">
            <a:avLst/>
          </a:prstGeom>
          <a:noFill/>
          <a:ln/>
        </p:spPr>
        <p:txBody>
          <a:bodyPr wrap="none" lIns="0" tIns="0" rIns="0" bIns="0" rtlCol="0" anchor="t"/>
          <a:lstStyle/>
          <a:p>
            <a:pPr algn="ctr" indent="0" marL="0">
              <a:lnSpc>
                <a:spcPct val="104000"/>
              </a:lnSpc>
              <a:buNone/>
            </a:pPr>
            <a:r>
              <a:rPr lang="en-US" sz="2200" dirty="0">
                <a:solidFill>
                  <a:srgbClr val="3F1464"/>
                </a:solidFill>
                <a:latin typeface="Crimson Pro SemiBold" pitchFamily="34" charset="0"/>
                <a:ea typeface="Crimson Pro SemiBold" pitchFamily="34" charset="-122"/>
                <a:cs typeface="Crimson Pro SemiBold" pitchFamily="34" charset="-120"/>
              </a:rPr>
              <a:t>3,51 impactos por usuario</a:t>
            </a:r>
            <a:endParaRPr lang="en-US" sz="2200" dirty="0"/>
          </a:p>
        </p:txBody>
      </p:sp>
      <p:sp>
        <p:nvSpPr>
          <p:cNvPr id="11" name="Text 9"/>
          <p:cNvSpPr/>
          <p:nvPr/>
        </p:nvSpPr>
        <p:spPr>
          <a:xfrm>
            <a:off x="801965" y="3364309"/>
            <a:ext cx="4421275" cy="219571"/>
          </a:xfrm>
          <a:prstGeom prst="rect">
            <a:avLst/>
          </a:prstGeom>
          <a:noFill/>
          <a:ln/>
        </p:spPr>
        <p:txBody>
          <a:bodyPr wrap="none" lIns="0" tIns="0" rIns="0" bIns="0" rtlCol="0" anchor="t"/>
          <a:lstStyle/>
          <a:p>
            <a:pPr algn="ctr"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Frecuencia promedio</a:t>
            </a:r>
            <a:endParaRPr lang="en-US" sz="1350" dirty="0"/>
          </a:p>
        </p:txBody>
      </p:sp>
      <p:sp>
        <p:nvSpPr>
          <p:cNvPr id="12" name="Text 10"/>
          <p:cNvSpPr/>
          <p:nvPr/>
        </p:nvSpPr>
        <p:spPr>
          <a:xfrm>
            <a:off x="801965" y="3703340"/>
            <a:ext cx="4421275" cy="208062"/>
          </a:xfrm>
          <a:prstGeom prst="rect">
            <a:avLst/>
          </a:prstGeom>
          <a:noFill/>
          <a:ln/>
        </p:spPr>
        <p:txBody>
          <a:bodyPr wrap="none" lIns="0" tIns="0" rIns="0" bIns="0" rtlCol="0" anchor="t"/>
          <a:lstStyle/>
          <a:p>
            <a:pPr algn="ctr" indent="0" marL="0">
              <a:lnSpc>
                <a:spcPct val="123000"/>
              </a:lnSpc>
              <a:buNone/>
            </a:pPr>
            <a:r>
              <a:rPr lang="en-US" sz="1100" dirty="0">
                <a:solidFill>
                  <a:srgbClr val="4C4C4D"/>
                </a:solidFill>
                <a:latin typeface="Heebo" pitchFamily="34" charset="0"/>
                <a:ea typeface="Heebo" pitchFamily="34" charset="-122"/>
                <a:cs typeface="Heebo" pitchFamily="34" charset="-120"/>
              </a:rPr>
              <a:t>En promedio cada usuario vio el contenido 3,5 veces</a:t>
            </a:r>
            <a:endParaRPr lang="en-US" sz="1100" dirty="0"/>
          </a:p>
        </p:txBody>
      </p:sp>
      <p:sp>
        <p:nvSpPr>
          <p:cNvPr id="13" name="Shape 11"/>
          <p:cNvSpPr/>
          <p:nvPr/>
        </p:nvSpPr>
        <p:spPr>
          <a:xfrm>
            <a:off x="661475" y="4171355"/>
            <a:ext cx="4702256" cy="1435298"/>
          </a:xfrm>
          <a:prstGeom prst="roundRect">
            <a:avLst>
              <a:gd name="adj" fmla="val 1469"/>
            </a:avLst>
          </a:prstGeom>
          <a:solidFill>
            <a:srgbClr val="F2EEEE"/>
          </a:solidFill>
          <a:ln/>
        </p:spPr>
      </p:sp>
      <p:sp>
        <p:nvSpPr>
          <p:cNvPr id="14" name="Text 12"/>
          <p:cNvSpPr/>
          <p:nvPr/>
        </p:nvSpPr>
        <p:spPr>
          <a:xfrm>
            <a:off x="801965" y="4311848"/>
            <a:ext cx="4421275" cy="351433"/>
          </a:xfrm>
          <a:prstGeom prst="rect">
            <a:avLst/>
          </a:prstGeom>
          <a:noFill/>
          <a:ln/>
        </p:spPr>
        <p:txBody>
          <a:bodyPr wrap="none" lIns="0" tIns="0" rIns="0" bIns="0" rtlCol="0" anchor="t"/>
          <a:lstStyle/>
          <a:p>
            <a:pPr algn="ctr" indent="0" marL="0">
              <a:lnSpc>
                <a:spcPct val="104000"/>
              </a:lnSpc>
              <a:buNone/>
            </a:pPr>
            <a:r>
              <a:rPr lang="en-US" sz="2200" dirty="0">
                <a:solidFill>
                  <a:srgbClr val="3F1464"/>
                </a:solidFill>
                <a:latin typeface="Crimson Pro SemiBold" pitchFamily="34" charset="0"/>
                <a:ea typeface="Crimson Pro SemiBold" pitchFamily="34" charset="-122"/>
                <a:cs typeface="Crimson Pro SemiBold" pitchFamily="34" charset="-120"/>
              </a:rPr>
              <a:t>Engagement Rate</a:t>
            </a:r>
            <a:endParaRPr lang="en-US" sz="2200" dirty="0"/>
          </a:p>
        </p:txBody>
      </p:sp>
      <p:sp>
        <p:nvSpPr>
          <p:cNvPr id="15" name="Text 13"/>
          <p:cNvSpPr/>
          <p:nvPr/>
        </p:nvSpPr>
        <p:spPr>
          <a:xfrm>
            <a:off x="801965" y="4711005"/>
            <a:ext cx="4421275" cy="219571"/>
          </a:xfrm>
          <a:prstGeom prst="rect">
            <a:avLst/>
          </a:prstGeom>
          <a:noFill/>
          <a:ln/>
        </p:spPr>
        <p:txBody>
          <a:bodyPr wrap="none" lIns="0" tIns="0" rIns="0" bIns="0" rtlCol="0" anchor="t"/>
          <a:lstStyle/>
          <a:p>
            <a:pPr algn="ctr" indent="0" marL="0">
              <a:lnSpc>
                <a:spcPct val="104000"/>
              </a:lnSpc>
              <a:buNone/>
            </a:pPr>
            <a:r>
              <a:rPr lang="en-US" sz="1350" dirty="0">
                <a:solidFill>
                  <a:srgbClr val="4C4C4D"/>
                </a:solidFill>
                <a:latin typeface="Crimson Pro SemiBold" pitchFamily="34" charset="0"/>
                <a:ea typeface="Crimson Pro SemiBold" pitchFamily="34" charset="-122"/>
                <a:cs typeface="Crimson Pro SemiBold" pitchFamily="34" charset="-120"/>
              </a:rPr>
              <a:t>Criterio de evaluación</a:t>
            </a:r>
            <a:endParaRPr lang="en-US" sz="1350" dirty="0"/>
          </a:p>
        </p:txBody>
      </p:sp>
      <p:sp>
        <p:nvSpPr>
          <p:cNvPr id="16" name="Text 14"/>
          <p:cNvSpPr/>
          <p:nvPr/>
        </p:nvSpPr>
        <p:spPr>
          <a:xfrm>
            <a:off x="801965" y="5050036"/>
            <a:ext cx="4421275" cy="416123"/>
          </a:xfrm>
          <a:prstGeom prst="rect">
            <a:avLst/>
          </a:prstGeom>
          <a:noFill/>
          <a:ln/>
        </p:spPr>
        <p:txBody>
          <a:bodyPr wrap="square" lIns="0" tIns="0" rIns="0" bIns="0" rtlCol="0" anchor="t">
            <a:normAutofit/>
          </a:bodyPr>
          <a:lstStyle/>
          <a:p>
            <a:pPr algn="ctr" indent="0" marL="0">
              <a:lnSpc>
                <a:spcPct val="123000"/>
              </a:lnSpc>
              <a:buNone/>
            </a:pPr>
            <a:r>
              <a:rPr lang="en-US" sz="1100" dirty="0">
                <a:solidFill>
                  <a:srgbClr val="4C4C4D"/>
                </a:solidFill>
                <a:latin typeface="Heebo" pitchFamily="34" charset="0"/>
                <a:ea typeface="Heebo" pitchFamily="34" charset="-122"/>
                <a:cs typeface="Heebo" pitchFamily="34" charset="-120"/>
              </a:rPr>
              <a:t>Métrica utilizada para comparar el desempeño de las piezas independientemente de su alcance</a:t>
            </a:r>
            <a:endParaRPr lang="en-US" sz="1100" dirty="0"/>
          </a:p>
        </p:txBody>
      </p:sp>
      <p:sp>
        <p:nvSpPr>
          <p:cNvPr id="17" name="Text 15"/>
          <p:cNvSpPr/>
          <p:nvPr/>
        </p:nvSpPr>
        <p:spPr>
          <a:xfrm>
            <a:off x="661475" y="5740995"/>
            <a:ext cx="4702256" cy="499467"/>
          </a:xfrm>
          <a:prstGeom prst="rect">
            <a:avLst/>
          </a:prstGeom>
          <a:noFill/>
          <a:ln/>
        </p:spPr>
        <p:txBody>
          <a:bodyPr wrap="square" lIns="0" tIns="0" rIns="0" bIns="0" rtlCol="0" anchor="t">
            <a:normAutofit/>
          </a:bodyPr>
          <a:lstStyle/>
          <a:p>
            <a:pPr algn="l" indent="0" marL="0">
              <a:lnSpc>
                <a:spcPct val="123000"/>
              </a:lnSpc>
              <a:buNone/>
            </a:pPr>
            <a:r>
              <a:rPr lang="en-US" sz="850" b="1" dirty="0">
                <a:solidFill>
                  <a:srgbClr val="4C4C4D"/>
                </a:solidFill>
                <a:latin typeface="Heebo Bold" pitchFamily="34" charset="0"/>
                <a:ea typeface="Heebo Bold" pitchFamily="34" charset="-122"/>
                <a:cs typeface="Heebo Bold" pitchFamily="34" charset="-120"/>
              </a:rPr>
              <a:t>Hallazgo principal: </a:t>
            </a:r>
            <a:pPr algn="l" indent="0" marL="0">
              <a:lnSpc>
                <a:spcPct val="123000"/>
              </a:lnSpc>
              <a:buNone/>
            </a:pPr>
            <a:r>
              <a:rPr lang="en-US" sz="850" dirty="0">
                <a:solidFill>
                  <a:srgbClr val="4C4C4D"/>
                </a:solidFill>
                <a:latin typeface="Heebo" pitchFamily="34" charset="0"/>
                <a:ea typeface="Heebo" pitchFamily="34" charset="-122"/>
                <a:cs typeface="Heebo" pitchFamily="34" charset="-120"/>
              </a:rPr>
              <a:t>Aunque fue la publicación con menor alcance, la </a:t>
            </a:r>
            <a:pPr algn="l" indent="0" marL="0">
              <a:lnSpc>
                <a:spcPct val="123000"/>
              </a:lnSpc>
              <a:buNone/>
            </a:pPr>
            <a:r>
              <a:rPr lang="en-US" sz="850" b="1" dirty="0">
                <a:solidFill>
                  <a:srgbClr val="4C4C4D"/>
                </a:solidFill>
                <a:latin typeface="Heebo Bold" pitchFamily="34" charset="0"/>
                <a:ea typeface="Heebo Bold" pitchFamily="34" charset="-122"/>
                <a:cs typeface="Heebo Bold" pitchFamily="34" charset="-120"/>
              </a:rPr>
              <a:t>Pieza 3</a:t>
            </a:r>
            <a:pPr algn="l" indent="0" marL="0">
              <a:lnSpc>
                <a:spcPct val="123000"/>
              </a:lnSpc>
              <a:buNone/>
            </a:pPr>
            <a:r>
              <a:rPr lang="en-US" sz="850" dirty="0">
                <a:solidFill>
                  <a:srgbClr val="4C4C4D"/>
                </a:solidFill>
                <a:latin typeface="Heebo" pitchFamily="34" charset="0"/>
                <a:ea typeface="Heebo" pitchFamily="34" charset="-122"/>
                <a:cs typeface="Heebo" pitchFamily="34" charset="-120"/>
              </a:rPr>
              <a:t> obtuvo el mayor nivel de interacción relativa (</a:t>
            </a:r>
            <a:pPr algn="l" indent="0" marL="0">
              <a:lnSpc>
                <a:spcPct val="123000"/>
              </a:lnSpc>
              <a:buNone/>
            </a:pPr>
            <a:r>
              <a:rPr lang="en-US" sz="850" b="1" dirty="0">
                <a:solidFill>
                  <a:srgbClr val="4C4C4D"/>
                </a:solidFill>
                <a:latin typeface="Heebo Bold" pitchFamily="34" charset="0"/>
                <a:ea typeface="Heebo Bold" pitchFamily="34" charset="-122"/>
                <a:cs typeface="Heebo Bold" pitchFamily="34" charset="-120"/>
              </a:rPr>
              <a:t>62%</a:t>
            </a:r>
            <a:pPr algn="l" indent="0" marL="0">
              <a:lnSpc>
                <a:spcPct val="123000"/>
              </a:lnSpc>
              <a:buNone/>
            </a:pPr>
            <a:r>
              <a:rPr lang="en-US" sz="850" dirty="0">
                <a:solidFill>
                  <a:srgbClr val="4C4C4D"/>
                </a:solidFill>
                <a:latin typeface="Heebo" pitchFamily="34" charset="0"/>
                <a:ea typeface="Heebo" pitchFamily="34" charset="-122"/>
                <a:cs typeface="Heebo" pitchFamily="34" charset="-120"/>
              </a:rPr>
              <a:t>), indicando un contenido significativamente más relevante para la audiencia.</a:t>
            </a:r>
            <a:endParaRPr lang="en-US" sz="850" dirty="0"/>
          </a:p>
        </p:txBody>
      </p:sp>
      <p:sp>
        <p:nvSpPr>
          <p:cNvPr id="18" name="Text 16"/>
          <p:cNvSpPr/>
          <p:nvPr/>
        </p:nvSpPr>
        <p:spPr>
          <a:xfrm>
            <a:off x="5712972" y="1463080"/>
            <a:ext cx="5823499" cy="219571"/>
          </a:xfrm>
          <a:prstGeom prst="rect">
            <a:avLst/>
          </a:prstGeom>
          <a:noFill/>
          <a:ln/>
        </p:spPr>
        <p:txBody>
          <a:bodyPr wrap="none" lIns="0" tIns="0" rIns="0" bIns="0" rtlCol="0" anchor="t"/>
          <a:lstStyle/>
          <a:p>
            <a:pPr algn="l" indent="0" marL="0">
              <a:lnSpc>
                <a:spcPct val="104000"/>
              </a:lnSpc>
              <a:buNone/>
            </a:pPr>
            <a:r>
              <a:rPr lang="en-US" sz="1350" dirty="0">
                <a:solidFill>
                  <a:srgbClr val="3F1464"/>
                </a:solidFill>
                <a:latin typeface="Crimson Pro SemiBold" pitchFamily="34" charset="0"/>
                <a:ea typeface="Crimson Pro SemiBold" pitchFamily="34" charset="-122"/>
                <a:cs typeface="Crimson Pro SemiBold" pitchFamily="34" charset="-120"/>
              </a:rPr>
              <a:t>Comparación de Engagement Rate</a:t>
            </a:r>
            <a:endParaRPr lang="en-US" sz="1350" dirty="0"/>
          </a:p>
        </p:txBody>
      </p:sp>
      <p:pic>
        <p:nvPicPr>
          <p:cNvPr id="19" name="Image 0" descr="preencoded.png">    </p:cNvPr>
          <p:cNvPicPr>
            <a:picLocks noChangeAspect="1"/>
          </p:cNvPicPr>
          <p:nvPr/>
        </p:nvPicPr>
        <p:blipFill>
          <a:blip r:embed="rId1"/>
          <a:stretch>
            <a:fillRect/>
          </a:stretch>
        </p:blipFill>
        <p:spPr>
          <a:xfrm>
            <a:off x="5712972" y="1816993"/>
            <a:ext cx="4949900" cy="3399234"/>
          </a:xfrm>
          <a:prstGeom prst="rect">
            <a:avLst/>
          </a:prstGeom>
        </p:spPr>
      </p:pic>
      <p:sp>
        <p:nvSpPr>
          <p:cNvPr id="20" name="Shape 17"/>
          <p:cNvSpPr/>
          <p:nvPr/>
        </p:nvSpPr>
        <p:spPr>
          <a:xfrm>
            <a:off x="5712972" y="5350570"/>
            <a:ext cx="5823499" cy="909340"/>
          </a:xfrm>
          <a:prstGeom prst="roundRect">
            <a:avLst>
              <a:gd name="adj" fmla="val 2319"/>
            </a:avLst>
          </a:prstGeom>
          <a:solidFill>
            <a:srgbClr val="E7CCFF"/>
          </a:solidFill>
          <a:ln/>
        </p:spPr>
      </p:sp>
      <p:pic>
        <p:nvPicPr>
          <p:cNvPr id="21" name="Image 1" descr="preencoded.png">    </p:cNvPr>
          <p:cNvPicPr>
            <a:picLocks noChangeAspect="1"/>
          </p:cNvPicPr>
          <p:nvPr/>
        </p:nvPicPr>
        <p:blipFill>
          <a:blip r:embed="rId2"/>
          <a:stretch>
            <a:fillRect/>
          </a:stretch>
        </p:blipFill>
        <p:spPr>
          <a:xfrm>
            <a:off x="5853462" y="5549305"/>
            <a:ext cx="175712" cy="140494"/>
          </a:xfrm>
          <a:prstGeom prst="rect">
            <a:avLst/>
          </a:prstGeom>
        </p:spPr>
      </p:pic>
      <p:sp>
        <p:nvSpPr>
          <p:cNvPr id="22" name="Text 18"/>
          <p:cNvSpPr/>
          <p:nvPr/>
        </p:nvSpPr>
        <p:spPr>
          <a:xfrm>
            <a:off x="6169664" y="5493147"/>
            <a:ext cx="5226316" cy="624185"/>
          </a:xfrm>
          <a:prstGeom prst="rect">
            <a:avLst/>
          </a:prstGeom>
          <a:noFill/>
          <a:ln/>
        </p:spPr>
        <p:txBody>
          <a:bodyPr wrap="square" lIns="0" tIns="0" rIns="0" bIns="0" rtlCol="0" anchor="t">
            <a:normAutofit/>
          </a:bodyPr>
          <a:lstStyle/>
          <a:p>
            <a:pPr algn="l" indent="0" marL="0">
              <a:lnSpc>
                <a:spcPct val="123000"/>
              </a:lnSpc>
              <a:buNone/>
            </a:pPr>
            <a:r>
              <a:rPr lang="en-US" sz="1100" b="1" dirty="0">
                <a:solidFill>
                  <a:srgbClr val="000000"/>
                </a:solidFill>
                <a:latin typeface="Heebo Bold" pitchFamily="34" charset="0"/>
                <a:ea typeface="Heebo Bold" pitchFamily="34" charset="-122"/>
                <a:cs typeface="Heebo Bold" pitchFamily="34" charset="-120"/>
              </a:rPr>
              <a:t>Insight de negocio.</a:t>
            </a:r>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 La </a:t>
            </a:r>
            <a:pPr algn="l" indent="0" marL="0">
              <a:lnSpc>
                <a:spcPct val="123000"/>
              </a:lnSpc>
              <a:buNone/>
            </a:pPr>
            <a:r>
              <a:rPr lang="en-US" sz="1100" b="1" dirty="0">
                <a:solidFill>
                  <a:srgbClr val="000000"/>
                </a:solidFill>
                <a:latin typeface="Heebo Bold" pitchFamily="34" charset="0"/>
                <a:ea typeface="Heebo Bold" pitchFamily="34" charset="-122"/>
                <a:cs typeface="Heebo Bold" pitchFamily="34" charset="-120"/>
              </a:rPr>
              <a:t>Pieza 3</a:t>
            </a:r>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 demuestra que un mayor alcance no garantiza un mejor desempeño. El engagement permite identificar el contenido con mayor capacidad de generar interacción.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1140718"/>
            <a:ext cx="1463341" cy="251420"/>
          </a:xfrm>
          <a:prstGeom prst="roundRect">
            <a:avLst>
              <a:gd name="adj" fmla="val 7894"/>
            </a:avLst>
          </a:prstGeom>
          <a:noFill/>
          <a:ln w="6350">
            <a:solidFill>
              <a:srgbClr val="A034FE"/>
            </a:solidFill>
            <a:prstDash val="solid"/>
          </a:ln>
        </p:spPr>
      </p:sp>
      <p:sp>
        <p:nvSpPr>
          <p:cNvPr id="3" name="Text 1"/>
          <p:cNvSpPr/>
          <p:nvPr/>
        </p:nvSpPr>
        <p:spPr>
          <a:xfrm>
            <a:off x="760691" y="1190327"/>
            <a:ext cx="1874493" cy="152202"/>
          </a:xfrm>
          <a:prstGeom prst="rect">
            <a:avLst/>
          </a:prstGeom>
          <a:noFill/>
          <a:ln/>
        </p:spPr>
        <p:txBody>
          <a:bodyPr wrap="none" lIns="0" tIns="0" rIns="0" bIns="0" rtlCol="0" anchor="t"/>
          <a:lstStyle/>
          <a:p>
            <a:pPr algn="l" indent="0" marL="0">
              <a:lnSpc>
                <a:spcPct val="96000"/>
              </a:lnSpc>
              <a:buNone/>
            </a:pPr>
            <a:r>
              <a:rPr lang="en-US" sz="1000" dirty="0">
                <a:solidFill>
                  <a:srgbClr val="A034FE"/>
                </a:solidFill>
                <a:latin typeface="Heebo" pitchFamily="34" charset="0"/>
                <a:ea typeface="Heebo" pitchFamily="34" charset="-122"/>
                <a:cs typeface="Heebo" pitchFamily="34" charset="-120"/>
              </a:rPr>
              <a:t>SÍNTESIS EJECUTIVA</a:t>
            </a:r>
            <a:endParaRPr lang="en-US" sz="1000" dirty="0"/>
          </a:p>
        </p:txBody>
      </p:sp>
      <p:sp>
        <p:nvSpPr>
          <p:cNvPr id="4" name="Text 2"/>
          <p:cNvSpPr/>
          <p:nvPr/>
        </p:nvSpPr>
        <p:spPr>
          <a:xfrm>
            <a:off x="661475" y="1458218"/>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3F1464"/>
                </a:solidFill>
                <a:latin typeface="Crimson Pro SemiBold" pitchFamily="34" charset="0"/>
                <a:ea typeface="Crimson Pro SemiBold" pitchFamily="34" charset="-122"/>
                <a:cs typeface="Crimson Pro SemiBold" pitchFamily="34" charset="-120"/>
              </a:rPr>
              <a:t>Conclusiones</a:t>
            </a:r>
            <a:endParaRPr lang="en-US" sz="3250" dirty="0"/>
          </a:p>
        </p:txBody>
      </p:sp>
      <p:sp>
        <p:nvSpPr>
          <p:cNvPr id="5" name="Shape 3"/>
          <p:cNvSpPr/>
          <p:nvPr/>
        </p:nvSpPr>
        <p:spPr>
          <a:xfrm>
            <a:off x="661475" y="2222996"/>
            <a:ext cx="10868745" cy="2646958"/>
          </a:xfrm>
          <a:prstGeom prst="roundRect">
            <a:avLst>
              <a:gd name="adj" fmla="val 937"/>
            </a:avLst>
          </a:prstGeom>
          <a:solidFill>
            <a:srgbClr val="F2EEEE"/>
          </a:solidFill>
          <a:ln/>
        </p:spPr>
      </p:sp>
      <p:sp>
        <p:nvSpPr>
          <p:cNvPr id="6" name="Shape 4"/>
          <p:cNvSpPr/>
          <p:nvPr/>
        </p:nvSpPr>
        <p:spPr>
          <a:xfrm>
            <a:off x="661475" y="2222996"/>
            <a:ext cx="5434373" cy="1323479"/>
          </a:xfrm>
          <a:custGeom>
            <a:avLst/>
            <a:gdLst/>
            <a:ahLst/>
            <a:cxnLst/>
            <a:rect l="l" t="t" r="r" b="b"/>
            <a:pathLst>
              <a:path w="5434373" h="1323479">
                <a:moveTo>
                  <a:pt x="20674" y="0"/>
                </a:moveTo>
                <a:lnTo>
                  <a:pt x="5434373" y="0"/>
                </a:lnTo>
                <a:lnTo>
                  <a:pt x="5434373" y="1323479"/>
                </a:lnTo>
                <a:lnTo>
                  <a:pt x="0" y="1323479"/>
                </a:lnTo>
                <a:lnTo>
                  <a:pt x="0" y="20674"/>
                </a:lnTo>
                <a:arcTo hR="20674" wR="20674" stAng="10800000" swAng="5400000"/>
                <a:close/>
              </a:path>
            </a:pathLst>
          </a:custGeom>
          <a:solidFill>
            <a:srgbClr val="F2EEEE"/>
          </a:solidFill>
          <a:ln/>
        </p:spPr>
      </p:sp>
      <p:sp>
        <p:nvSpPr>
          <p:cNvPr id="7" name="Text 5"/>
          <p:cNvSpPr/>
          <p:nvPr/>
        </p:nvSpPr>
        <p:spPr>
          <a:xfrm>
            <a:off x="826769" y="2388295"/>
            <a:ext cx="4855644" cy="258465"/>
          </a:xfrm>
          <a:prstGeom prst="rect">
            <a:avLst/>
          </a:prstGeom>
          <a:noFill/>
          <a:ln/>
        </p:spPr>
        <p:txBody>
          <a:bodyPr wrap="none" lIns="0" tIns="0" rIns="0" bIns="0" rtlCol="0" anchor="t"/>
          <a:lstStyle/>
          <a:p>
            <a:pPr algn="l" indent="0" marL="0">
              <a:lnSpc>
                <a:spcPct val="104000"/>
              </a:lnSpc>
              <a:buNone/>
            </a:pPr>
            <a:r>
              <a:rPr lang="en-US" sz="1600" dirty="0">
                <a:solidFill>
                  <a:srgbClr val="3F1464"/>
                </a:solidFill>
                <a:latin typeface="Crimson Pro SemiBold" pitchFamily="34" charset="0"/>
                <a:ea typeface="Crimson Pro SemiBold" pitchFamily="34" charset="-122"/>
                <a:cs typeface="Crimson Pro SemiBold" pitchFamily="34" charset="-120"/>
              </a:rPr>
              <a:t>Segmentación</a:t>
            </a:r>
            <a:endParaRPr lang="en-US" sz="1600" dirty="0"/>
          </a:p>
        </p:txBody>
      </p:sp>
      <p:sp>
        <p:nvSpPr>
          <p:cNvPr id="8" name="Text 6"/>
          <p:cNvSpPr/>
          <p:nvPr/>
        </p:nvSpPr>
        <p:spPr>
          <a:xfrm>
            <a:off x="826769" y="2745978"/>
            <a:ext cx="4855644" cy="635198"/>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4C4C4D"/>
                </a:solidFill>
                <a:latin typeface="Heebo" pitchFamily="34" charset="0"/>
                <a:ea typeface="Heebo" pitchFamily="34" charset="-122"/>
                <a:cs typeface="Heebo" pitchFamily="34" charset="-120"/>
              </a:rPr>
              <a:t>La segmentación permitió identificar que el segmento </a:t>
            </a:r>
            <a:pPr algn="l" indent="0" marL="0">
              <a:lnSpc>
                <a:spcPct val="133000"/>
              </a:lnSpc>
              <a:buNone/>
            </a:pPr>
            <a:r>
              <a:rPr lang="en-US" sz="1000" b="1" dirty="0">
                <a:solidFill>
                  <a:srgbClr val="4C4C4D"/>
                </a:solidFill>
                <a:latin typeface="Heebo Bold" pitchFamily="34" charset="0"/>
                <a:ea typeface="Heebo Bold" pitchFamily="34" charset="-122"/>
                <a:cs typeface="Heebo Bold" pitchFamily="34" charset="-120"/>
              </a:rPr>
              <a:t>Estratégico</a:t>
            </a:r>
            <a:pPr algn="l" indent="0" marL="0">
              <a:lnSpc>
                <a:spcPct val="133000"/>
              </a:lnSpc>
              <a:buNone/>
            </a:pPr>
            <a:r>
              <a:rPr lang="en-US" sz="1000" dirty="0">
                <a:solidFill>
                  <a:srgbClr val="4C4C4D"/>
                </a:solidFill>
                <a:latin typeface="Heebo" pitchFamily="34" charset="0"/>
                <a:ea typeface="Heebo" pitchFamily="34" charset="-122"/>
                <a:cs typeface="Heebo" pitchFamily="34" charset="-120"/>
              </a:rPr>
              <a:t>, aunque representa una menor cantidad de comercios, concentra cerca del </a:t>
            </a:r>
            <a:pPr algn="l" indent="0" marL="0">
              <a:lnSpc>
                <a:spcPct val="133000"/>
              </a:lnSpc>
              <a:buNone/>
            </a:pPr>
            <a:r>
              <a:rPr lang="en-US" sz="1000" b="1" dirty="0">
                <a:solidFill>
                  <a:srgbClr val="4C4C4D"/>
                </a:solidFill>
                <a:latin typeface="Heebo Bold" pitchFamily="34" charset="0"/>
                <a:ea typeface="Heebo Bold" pitchFamily="34" charset="-122"/>
                <a:cs typeface="Heebo Bold" pitchFamily="34" charset="-120"/>
              </a:rPr>
              <a:t>48% de las ventas</a:t>
            </a:r>
            <a:pPr algn="l" indent="0" marL="0">
              <a:lnSpc>
                <a:spcPct val="133000"/>
              </a:lnSpc>
              <a:buNone/>
            </a:pPr>
            <a:r>
              <a:rPr lang="en-US" sz="1000" dirty="0">
                <a:solidFill>
                  <a:srgbClr val="4C4C4D"/>
                </a:solidFill>
                <a:latin typeface="Heebo" pitchFamily="34" charset="0"/>
                <a:ea typeface="Heebo" pitchFamily="34" charset="-122"/>
                <a:cs typeface="Heebo" pitchFamily="34" charset="-120"/>
              </a:rPr>
              <a:t>, facilitando la focalización de campañas y recursos.</a:t>
            </a:r>
            <a:endParaRPr lang="en-US" sz="1000" dirty="0"/>
          </a:p>
        </p:txBody>
      </p:sp>
      <p:sp>
        <p:nvSpPr>
          <p:cNvPr id="9" name="Shape 7"/>
          <p:cNvSpPr/>
          <p:nvPr/>
        </p:nvSpPr>
        <p:spPr>
          <a:xfrm>
            <a:off x="6095848" y="2222996"/>
            <a:ext cx="5434373" cy="1323479"/>
          </a:xfrm>
          <a:custGeom>
            <a:avLst/>
            <a:gdLst/>
            <a:ahLst/>
            <a:cxnLst/>
            <a:rect l="l" t="t" r="r" b="b"/>
            <a:pathLst>
              <a:path w="5434373" h="1323479">
                <a:moveTo>
                  <a:pt x="0" y="0"/>
                </a:moveTo>
                <a:lnTo>
                  <a:pt x="5413699" y="0"/>
                </a:lnTo>
                <a:arcTo hR="20674" wR="20674" stAng="16200000" swAng="5400000"/>
                <a:lnTo>
                  <a:pt x="5434373" y="1323479"/>
                </a:lnTo>
                <a:lnTo>
                  <a:pt x="0" y="1323479"/>
                </a:lnTo>
                <a:lnTo>
                  <a:pt x="0" y="0"/>
                </a:lnTo>
                <a:close/>
              </a:path>
            </a:pathLst>
          </a:custGeom>
          <a:solidFill>
            <a:srgbClr val="F2EEEE"/>
          </a:solidFill>
          <a:ln/>
        </p:spPr>
      </p:sp>
      <p:sp>
        <p:nvSpPr>
          <p:cNvPr id="10" name="Shape 8"/>
          <p:cNvSpPr/>
          <p:nvPr/>
        </p:nvSpPr>
        <p:spPr>
          <a:xfrm>
            <a:off x="6095848" y="2222996"/>
            <a:ext cx="19050" cy="1323479"/>
          </a:xfrm>
          <a:prstGeom prst="roundRect">
            <a:avLst>
              <a:gd name="adj" fmla="val 49999"/>
            </a:avLst>
          </a:prstGeom>
          <a:solidFill>
            <a:srgbClr val="D8D4D4"/>
          </a:solidFill>
          <a:ln/>
        </p:spPr>
      </p:sp>
      <p:sp>
        <p:nvSpPr>
          <p:cNvPr id="11" name="Text 9"/>
          <p:cNvSpPr/>
          <p:nvPr/>
        </p:nvSpPr>
        <p:spPr>
          <a:xfrm>
            <a:off x="6509282" y="2388295"/>
            <a:ext cx="4855644" cy="258465"/>
          </a:xfrm>
          <a:prstGeom prst="rect">
            <a:avLst/>
          </a:prstGeom>
          <a:noFill/>
          <a:ln/>
        </p:spPr>
        <p:txBody>
          <a:bodyPr wrap="none" lIns="0" tIns="0" rIns="0" bIns="0" rtlCol="0" anchor="t"/>
          <a:lstStyle/>
          <a:p>
            <a:pPr algn="l" indent="0" marL="0">
              <a:lnSpc>
                <a:spcPct val="104000"/>
              </a:lnSpc>
              <a:buNone/>
            </a:pPr>
            <a:r>
              <a:rPr lang="en-US" sz="1600" dirty="0">
                <a:solidFill>
                  <a:srgbClr val="3F1464"/>
                </a:solidFill>
                <a:latin typeface="Crimson Pro SemiBold" pitchFamily="34" charset="0"/>
                <a:ea typeface="Crimson Pro SemiBold" pitchFamily="34" charset="-122"/>
                <a:cs typeface="Crimson Pro SemiBold" pitchFamily="34" charset="-120"/>
              </a:rPr>
              <a:t>Forecast</a:t>
            </a:r>
            <a:endParaRPr lang="en-US" sz="1600" dirty="0"/>
          </a:p>
        </p:txBody>
      </p:sp>
      <p:sp>
        <p:nvSpPr>
          <p:cNvPr id="12" name="Text 10"/>
          <p:cNvSpPr/>
          <p:nvPr/>
        </p:nvSpPr>
        <p:spPr>
          <a:xfrm>
            <a:off x="6509282" y="2745978"/>
            <a:ext cx="4855644" cy="635198"/>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4C4C4D"/>
                </a:solidFill>
                <a:latin typeface="Heebo" pitchFamily="34" charset="0"/>
                <a:ea typeface="Heebo" pitchFamily="34" charset="-122"/>
                <a:cs typeface="Heebo" pitchFamily="34" charset="-120"/>
              </a:rPr>
              <a:t>Se estimó una TCRM de </a:t>
            </a:r>
            <a:pPr algn="l" indent="0" marL="0">
              <a:lnSpc>
                <a:spcPct val="133000"/>
              </a:lnSpc>
              <a:buNone/>
            </a:pPr>
            <a:r>
              <a:rPr lang="en-US" sz="1000" b="1" dirty="0">
                <a:solidFill>
                  <a:srgbClr val="4C4C4D"/>
                </a:solidFill>
                <a:latin typeface="Heebo Bold" pitchFamily="34" charset="0"/>
                <a:ea typeface="Heebo Bold" pitchFamily="34" charset="-122"/>
                <a:cs typeface="Heebo Bold" pitchFamily="34" charset="-120"/>
              </a:rPr>
              <a:t>$3.897,69</a:t>
            </a:r>
            <a:pPr algn="l" indent="0" marL="0">
              <a:lnSpc>
                <a:spcPct val="133000"/>
              </a:lnSpc>
              <a:buNone/>
            </a:pPr>
            <a:r>
              <a:rPr lang="en-US" sz="1000" dirty="0">
                <a:solidFill>
                  <a:srgbClr val="4C4C4D"/>
                </a:solidFill>
                <a:latin typeface="Heebo" pitchFamily="34" charset="0"/>
                <a:ea typeface="Heebo" pitchFamily="34" charset="-122"/>
                <a:cs typeface="Heebo" pitchFamily="34" charset="-120"/>
              </a:rPr>
              <a:t> para el </a:t>
            </a:r>
            <a:pPr algn="l" indent="0" marL="0">
              <a:lnSpc>
                <a:spcPct val="133000"/>
              </a:lnSpc>
              <a:buNone/>
            </a:pPr>
            <a:r>
              <a:rPr lang="en-US" sz="1000" b="1" dirty="0">
                <a:solidFill>
                  <a:srgbClr val="4C4C4D"/>
                </a:solidFill>
                <a:latin typeface="Heebo Bold" pitchFamily="34" charset="0"/>
                <a:ea typeface="Heebo Bold" pitchFamily="34" charset="-122"/>
                <a:cs typeface="Heebo Bold" pitchFamily="34" charset="-120"/>
              </a:rPr>
              <a:t>1 de enero de 2023</a:t>
            </a:r>
            <a:pPr algn="l" indent="0" marL="0">
              <a:lnSpc>
                <a:spcPct val="133000"/>
              </a:lnSpc>
              <a:buNone/>
            </a:pPr>
            <a:r>
              <a:rPr lang="en-US" sz="1000" dirty="0">
                <a:solidFill>
                  <a:srgbClr val="4C4C4D"/>
                </a:solidFill>
                <a:latin typeface="Heebo" pitchFamily="34" charset="0"/>
                <a:ea typeface="Heebo" pitchFamily="34" charset="-122"/>
                <a:cs typeface="Heebo" pitchFamily="34" charset="-120"/>
              </a:rPr>
              <a:t>, con una desviación estándar estimada de </a:t>
            </a:r>
            <a:pPr algn="l" indent="0" marL="0">
              <a:lnSpc>
                <a:spcPct val="133000"/>
              </a:lnSpc>
              <a:buNone/>
            </a:pPr>
            <a:r>
              <a:rPr lang="en-US" sz="1000" b="1" dirty="0">
                <a:solidFill>
                  <a:srgbClr val="4C4C4D"/>
                </a:solidFill>
                <a:latin typeface="Heebo Bold" pitchFamily="34" charset="0"/>
                <a:ea typeface="Heebo Bold" pitchFamily="34" charset="-122"/>
                <a:cs typeface="Heebo Bold" pitchFamily="34" charset="-120"/>
              </a:rPr>
              <a:t>$308,48</a:t>
            </a:r>
            <a:pPr algn="l" indent="0" marL="0">
              <a:lnSpc>
                <a:spcPct val="133000"/>
              </a:lnSpc>
              <a:buNone/>
            </a:pPr>
            <a:r>
              <a:rPr lang="en-US" sz="1000" dirty="0">
                <a:solidFill>
                  <a:srgbClr val="4C4C4D"/>
                </a:solidFill>
                <a:latin typeface="Heebo" pitchFamily="34" charset="0"/>
                <a:ea typeface="Heebo" pitchFamily="34" charset="-122"/>
                <a:cs typeface="Heebo" pitchFamily="34" charset="-120"/>
              </a:rPr>
              <a:t>, proporcionando una referencia para la planeación financiera.</a:t>
            </a:r>
            <a:endParaRPr lang="en-US" sz="1000" dirty="0"/>
          </a:p>
        </p:txBody>
      </p:sp>
      <p:sp>
        <p:nvSpPr>
          <p:cNvPr id="13" name="Shape 11"/>
          <p:cNvSpPr/>
          <p:nvPr/>
        </p:nvSpPr>
        <p:spPr>
          <a:xfrm>
            <a:off x="5889180" y="2677964"/>
            <a:ext cx="413434" cy="413445"/>
          </a:xfrm>
          <a:prstGeom prst="roundRect">
            <a:avLst>
              <a:gd name="adj" fmla="val 6001"/>
            </a:avLst>
          </a:prstGeom>
          <a:solidFill>
            <a:srgbClr val="FFFFFF"/>
          </a:solidFill>
          <a:ln w="19050">
            <a:solidFill>
              <a:srgbClr val="D8D4D4"/>
            </a:solidFill>
            <a:prstDash val="solid"/>
          </a:ln>
        </p:spPr>
      </p:sp>
      <p:pic>
        <p:nvPicPr>
          <p:cNvPr id="1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992563" y="2781250"/>
            <a:ext cx="206667" cy="206673"/>
          </a:xfrm>
          <a:prstGeom prst="rect">
            <a:avLst/>
          </a:prstGeom>
        </p:spPr>
      </p:pic>
      <p:sp>
        <p:nvSpPr>
          <p:cNvPr id="15" name="Shape 12"/>
          <p:cNvSpPr/>
          <p:nvPr/>
        </p:nvSpPr>
        <p:spPr>
          <a:xfrm>
            <a:off x="661475" y="3546475"/>
            <a:ext cx="5434373" cy="1323479"/>
          </a:xfrm>
          <a:custGeom>
            <a:avLst/>
            <a:gdLst/>
            <a:ahLst/>
            <a:cxnLst/>
            <a:rect l="l" t="t" r="r" b="b"/>
            <a:pathLst>
              <a:path w="5434373" h="1323479">
                <a:moveTo>
                  <a:pt x="0" y="0"/>
                </a:moveTo>
                <a:lnTo>
                  <a:pt x="5434373" y="0"/>
                </a:lnTo>
                <a:lnTo>
                  <a:pt x="5434373" y="1323479"/>
                </a:lnTo>
                <a:lnTo>
                  <a:pt x="20674" y="1323479"/>
                </a:lnTo>
                <a:arcTo hR="20674" wR="20674" stAng="5400000" swAng="5400000"/>
                <a:lnTo>
                  <a:pt x="0" y="0"/>
                </a:lnTo>
                <a:close/>
              </a:path>
            </a:pathLst>
          </a:custGeom>
          <a:solidFill>
            <a:srgbClr val="F2EEEE"/>
          </a:solidFill>
          <a:ln/>
        </p:spPr>
      </p:sp>
      <p:sp>
        <p:nvSpPr>
          <p:cNvPr id="16" name="Shape 13"/>
          <p:cNvSpPr/>
          <p:nvPr/>
        </p:nvSpPr>
        <p:spPr>
          <a:xfrm>
            <a:off x="661475" y="3546475"/>
            <a:ext cx="5434373" cy="19050"/>
          </a:xfrm>
          <a:prstGeom prst="roundRect">
            <a:avLst>
              <a:gd name="adj" fmla="val 49999"/>
            </a:avLst>
          </a:prstGeom>
          <a:solidFill>
            <a:srgbClr val="D8D4D4"/>
          </a:solidFill>
          <a:ln/>
        </p:spPr>
      </p:sp>
      <p:sp>
        <p:nvSpPr>
          <p:cNvPr id="17" name="Text 14"/>
          <p:cNvSpPr/>
          <p:nvPr/>
        </p:nvSpPr>
        <p:spPr>
          <a:xfrm>
            <a:off x="826769" y="3711773"/>
            <a:ext cx="4855644" cy="258465"/>
          </a:xfrm>
          <a:prstGeom prst="rect">
            <a:avLst/>
          </a:prstGeom>
          <a:noFill/>
          <a:ln/>
        </p:spPr>
        <p:txBody>
          <a:bodyPr wrap="none" lIns="0" tIns="0" rIns="0" bIns="0" rtlCol="0" anchor="t"/>
          <a:lstStyle/>
          <a:p>
            <a:pPr algn="l" indent="0" marL="0">
              <a:lnSpc>
                <a:spcPct val="104000"/>
              </a:lnSpc>
              <a:buNone/>
            </a:pPr>
            <a:r>
              <a:rPr lang="en-US" sz="1600" dirty="0">
                <a:solidFill>
                  <a:srgbClr val="3F1464"/>
                </a:solidFill>
                <a:latin typeface="Crimson Pro SemiBold" pitchFamily="34" charset="0"/>
                <a:ea typeface="Crimson Pro SemiBold" pitchFamily="34" charset="-122"/>
                <a:cs typeface="Crimson Pro SemiBold" pitchFamily="34" charset="-120"/>
              </a:rPr>
              <a:t>Analítica Digital</a:t>
            </a:r>
            <a:endParaRPr lang="en-US" sz="1600" dirty="0"/>
          </a:p>
        </p:txBody>
      </p:sp>
      <p:sp>
        <p:nvSpPr>
          <p:cNvPr id="18" name="Text 15"/>
          <p:cNvSpPr/>
          <p:nvPr/>
        </p:nvSpPr>
        <p:spPr>
          <a:xfrm>
            <a:off x="826769" y="4069457"/>
            <a:ext cx="4855644" cy="635198"/>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4C4C4D"/>
                </a:solidFill>
                <a:latin typeface="Heebo" pitchFamily="34" charset="0"/>
                <a:ea typeface="Heebo" pitchFamily="34" charset="-122"/>
                <a:cs typeface="Heebo" pitchFamily="34" charset="-120"/>
              </a:rPr>
              <a:t>Se respondieron correctamente conceptos relacionados con </a:t>
            </a:r>
            <a:pPr algn="l" indent="0" marL="0">
              <a:lnSpc>
                <a:spcPct val="133000"/>
              </a:lnSpc>
              <a:buNone/>
            </a:pPr>
            <a:r>
              <a:rPr lang="en-US" sz="1000" b="1" dirty="0">
                <a:solidFill>
                  <a:srgbClr val="4C4C4D"/>
                </a:solidFill>
                <a:latin typeface="Heebo Bold" pitchFamily="34" charset="0"/>
                <a:ea typeface="Heebo Bold" pitchFamily="34" charset="-122"/>
                <a:cs typeface="Heebo Bold" pitchFamily="34" charset="-120"/>
              </a:rPr>
              <a:t>Google Analytics</a:t>
            </a:r>
            <a:pPr algn="l" indent="0" marL="0">
              <a:lnSpc>
                <a:spcPct val="133000"/>
              </a:lnSpc>
              <a:buNone/>
            </a:pPr>
            <a:r>
              <a:rPr lang="en-US" sz="1000" dirty="0">
                <a:solidFill>
                  <a:srgbClr val="4C4C4D"/>
                </a:solidFill>
                <a:latin typeface="Heebo" pitchFamily="34" charset="0"/>
                <a:ea typeface="Heebo" pitchFamily="34" charset="-122"/>
                <a:cs typeface="Heebo" pitchFamily="34" charset="-120"/>
              </a:rPr>
              <a:t>, </a:t>
            </a:r>
            <a:pPr algn="l" indent="0" marL="0">
              <a:lnSpc>
                <a:spcPct val="133000"/>
              </a:lnSpc>
              <a:buNone/>
            </a:pPr>
            <a:r>
              <a:rPr lang="en-US" sz="1000" b="1" dirty="0">
                <a:solidFill>
                  <a:srgbClr val="4C4C4D"/>
                </a:solidFill>
                <a:latin typeface="Heebo Bold" pitchFamily="34" charset="0"/>
                <a:ea typeface="Heebo Bold" pitchFamily="34" charset="-122"/>
                <a:cs typeface="Heebo Bold" pitchFamily="34" charset="-120"/>
              </a:rPr>
              <a:t>Google Tag Manager</a:t>
            </a:r>
            <a:pPr algn="l" indent="0" marL="0">
              <a:lnSpc>
                <a:spcPct val="133000"/>
              </a:lnSpc>
              <a:buNone/>
            </a:pPr>
            <a:r>
              <a:rPr lang="en-US" sz="1000" dirty="0">
                <a:solidFill>
                  <a:srgbClr val="4C4C4D"/>
                </a:solidFill>
                <a:latin typeface="Heebo" pitchFamily="34" charset="0"/>
                <a:ea typeface="Heebo" pitchFamily="34" charset="-122"/>
                <a:cs typeface="Heebo" pitchFamily="34" charset="-120"/>
              </a:rPr>
              <a:t> y </a:t>
            </a:r>
            <a:pPr algn="l" indent="0" marL="0">
              <a:lnSpc>
                <a:spcPct val="133000"/>
              </a:lnSpc>
              <a:buNone/>
            </a:pPr>
            <a:r>
              <a:rPr lang="en-US" sz="1000" b="1" dirty="0">
                <a:solidFill>
                  <a:srgbClr val="4C4C4D"/>
                </a:solidFill>
                <a:latin typeface="Heebo Bold" pitchFamily="34" charset="0"/>
                <a:ea typeface="Heebo Bold" pitchFamily="34" charset="-122"/>
                <a:cs typeface="Heebo Bold" pitchFamily="34" charset="-120"/>
              </a:rPr>
              <a:t>atribución de tráfico</a:t>
            </a:r>
            <a:pPr algn="l" indent="0" marL="0">
              <a:lnSpc>
                <a:spcPct val="133000"/>
              </a:lnSpc>
              <a:buNone/>
            </a:pPr>
            <a:r>
              <a:rPr lang="en-US" sz="1000" dirty="0">
                <a:solidFill>
                  <a:srgbClr val="4C4C4D"/>
                </a:solidFill>
                <a:latin typeface="Heebo" pitchFamily="34" charset="0"/>
                <a:ea typeface="Heebo" pitchFamily="34" charset="-122"/>
                <a:cs typeface="Heebo" pitchFamily="34" charset="-120"/>
              </a:rPr>
              <a:t>, fundamentales para el análisis del comportamiento digital.</a:t>
            </a:r>
            <a:endParaRPr lang="en-US" sz="1000" dirty="0"/>
          </a:p>
        </p:txBody>
      </p:sp>
      <p:sp>
        <p:nvSpPr>
          <p:cNvPr id="19" name="Shape 16"/>
          <p:cNvSpPr/>
          <p:nvPr/>
        </p:nvSpPr>
        <p:spPr>
          <a:xfrm>
            <a:off x="6095848" y="3546475"/>
            <a:ext cx="5434373" cy="1323479"/>
          </a:xfrm>
          <a:custGeom>
            <a:avLst/>
            <a:gdLst/>
            <a:ahLst/>
            <a:cxnLst/>
            <a:rect l="l" t="t" r="r" b="b"/>
            <a:pathLst>
              <a:path w="5434373" h="1323479">
                <a:moveTo>
                  <a:pt x="0" y="0"/>
                </a:moveTo>
                <a:lnTo>
                  <a:pt x="5434373" y="0"/>
                </a:lnTo>
                <a:lnTo>
                  <a:pt x="5434373" y="1302805"/>
                </a:lnTo>
                <a:arcTo hR="20674" wR="20674" stAng="0" swAng="5400000"/>
                <a:lnTo>
                  <a:pt x="0" y="1323479"/>
                </a:lnTo>
                <a:lnTo>
                  <a:pt x="0" y="0"/>
                </a:lnTo>
                <a:close/>
              </a:path>
            </a:pathLst>
          </a:custGeom>
          <a:solidFill>
            <a:srgbClr val="F2EEEE"/>
          </a:solidFill>
          <a:ln/>
        </p:spPr>
      </p:sp>
      <p:sp>
        <p:nvSpPr>
          <p:cNvPr id="20" name="Shape 17"/>
          <p:cNvSpPr/>
          <p:nvPr/>
        </p:nvSpPr>
        <p:spPr>
          <a:xfrm>
            <a:off x="6095848" y="3546475"/>
            <a:ext cx="19050" cy="1323479"/>
          </a:xfrm>
          <a:prstGeom prst="roundRect">
            <a:avLst>
              <a:gd name="adj" fmla="val 49999"/>
            </a:avLst>
          </a:prstGeom>
          <a:solidFill>
            <a:srgbClr val="D8D4D4"/>
          </a:solidFill>
          <a:ln/>
        </p:spPr>
      </p:sp>
      <p:sp>
        <p:nvSpPr>
          <p:cNvPr id="21" name="Shape 18"/>
          <p:cNvSpPr/>
          <p:nvPr/>
        </p:nvSpPr>
        <p:spPr>
          <a:xfrm>
            <a:off x="6095848" y="3546475"/>
            <a:ext cx="5434373" cy="19050"/>
          </a:xfrm>
          <a:prstGeom prst="roundRect">
            <a:avLst>
              <a:gd name="adj" fmla="val 49999"/>
            </a:avLst>
          </a:prstGeom>
          <a:solidFill>
            <a:srgbClr val="D8D4D4"/>
          </a:solidFill>
          <a:ln/>
        </p:spPr>
      </p:sp>
      <p:sp>
        <p:nvSpPr>
          <p:cNvPr id="22" name="Text 19"/>
          <p:cNvSpPr/>
          <p:nvPr/>
        </p:nvSpPr>
        <p:spPr>
          <a:xfrm>
            <a:off x="6509282" y="3711773"/>
            <a:ext cx="4855644" cy="258465"/>
          </a:xfrm>
          <a:prstGeom prst="rect">
            <a:avLst/>
          </a:prstGeom>
          <a:noFill/>
          <a:ln/>
        </p:spPr>
        <p:txBody>
          <a:bodyPr wrap="none" lIns="0" tIns="0" rIns="0" bIns="0" rtlCol="0" anchor="t"/>
          <a:lstStyle/>
          <a:p>
            <a:pPr algn="l" indent="0" marL="0">
              <a:lnSpc>
                <a:spcPct val="104000"/>
              </a:lnSpc>
              <a:buNone/>
            </a:pPr>
            <a:r>
              <a:rPr lang="en-US" sz="1600" dirty="0">
                <a:solidFill>
                  <a:srgbClr val="3F1464"/>
                </a:solidFill>
                <a:latin typeface="Crimson Pro SemiBold" pitchFamily="34" charset="0"/>
                <a:ea typeface="Crimson Pro SemiBold" pitchFamily="34" charset="-122"/>
                <a:cs typeface="Crimson Pro SemiBold" pitchFamily="34" charset="-120"/>
              </a:rPr>
              <a:t>Marketing</a:t>
            </a:r>
            <a:endParaRPr lang="en-US" sz="1600" dirty="0"/>
          </a:p>
        </p:txBody>
      </p:sp>
      <p:sp>
        <p:nvSpPr>
          <p:cNvPr id="23" name="Text 20"/>
          <p:cNvSpPr/>
          <p:nvPr/>
        </p:nvSpPr>
        <p:spPr>
          <a:xfrm>
            <a:off x="6509282" y="4069457"/>
            <a:ext cx="4855644" cy="635198"/>
          </a:xfrm>
          <a:prstGeom prst="rect">
            <a:avLst/>
          </a:prstGeom>
          <a:noFill/>
          <a:ln/>
        </p:spPr>
        <p:txBody>
          <a:bodyPr wrap="square" lIns="0" tIns="0" rIns="0" bIns="0" rtlCol="0" anchor="t">
            <a:normAutofit/>
          </a:bodyPr>
          <a:lstStyle/>
          <a:p>
            <a:pPr algn="l" indent="0" marL="0">
              <a:lnSpc>
                <a:spcPct val="133000"/>
              </a:lnSpc>
              <a:buNone/>
            </a:pPr>
            <a:r>
              <a:rPr lang="en-US" sz="1000" dirty="0">
                <a:solidFill>
                  <a:srgbClr val="4C4C4D"/>
                </a:solidFill>
                <a:latin typeface="Heebo" pitchFamily="34" charset="0"/>
                <a:ea typeface="Heebo" pitchFamily="34" charset="-122"/>
                <a:cs typeface="Heebo" pitchFamily="34" charset="-120"/>
              </a:rPr>
              <a:t>El análisis evidenció que la </a:t>
            </a:r>
            <a:pPr algn="l" indent="0" marL="0">
              <a:lnSpc>
                <a:spcPct val="133000"/>
              </a:lnSpc>
              <a:buNone/>
            </a:pPr>
            <a:r>
              <a:rPr lang="en-US" sz="1000" b="1" dirty="0">
                <a:solidFill>
                  <a:srgbClr val="4C4C4D"/>
                </a:solidFill>
                <a:latin typeface="Heebo Bold" pitchFamily="34" charset="0"/>
                <a:ea typeface="Heebo Bold" pitchFamily="34" charset="-122"/>
                <a:cs typeface="Heebo Bold" pitchFamily="34" charset="-120"/>
              </a:rPr>
              <a:t>Pieza 3</a:t>
            </a:r>
            <a:pPr algn="l" indent="0" marL="0">
              <a:lnSpc>
                <a:spcPct val="133000"/>
              </a:lnSpc>
              <a:buNone/>
            </a:pPr>
            <a:r>
              <a:rPr lang="en-US" sz="1000" dirty="0">
                <a:solidFill>
                  <a:srgbClr val="4C4C4D"/>
                </a:solidFill>
                <a:latin typeface="Heebo" pitchFamily="34" charset="0"/>
                <a:ea typeface="Heebo" pitchFamily="34" charset="-122"/>
                <a:cs typeface="Heebo" pitchFamily="34" charset="-120"/>
              </a:rPr>
              <a:t> obtuvo el mejor desempeño, alcanzando un </a:t>
            </a:r>
            <a:pPr algn="l" indent="0" marL="0">
              <a:lnSpc>
                <a:spcPct val="133000"/>
              </a:lnSpc>
              <a:buNone/>
            </a:pPr>
            <a:r>
              <a:rPr lang="en-US" sz="1000" b="1" dirty="0">
                <a:solidFill>
                  <a:srgbClr val="4C4C4D"/>
                </a:solidFill>
                <a:latin typeface="Heebo Bold" pitchFamily="34" charset="0"/>
                <a:ea typeface="Heebo Bold" pitchFamily="34" charset="-122"/>
                <a:cs typeface="Heebo Bold" pitchFamily="34" charset="-120"/>
              </a:rPr>
              <a:t>62% de engagement</a:t>
            </a:r>
            <a:pPr algn="l" indent="0" marL="0">
              <a:lnSpc>
                <a:spcPct val="133000"/>
              </a:lnSpc>
              <a:buNone/>
            </a:pPr>
            <a:r>
              <a:rPr lang="en-US" sz="1000" dirty="0">
                <a:solidFill>
                  <a:srgbClr val="4C4C4D"/>
                </a:solidFill>
                <a:latin typeface="Heebo" pitchFamily="34" charset="0"/>
                <a:ea typeface="Heebo" pitchFamily="34" charset="-122"/>
                <a:cs typeface="Heebo" pitchFamily="34" charset="-120"/>
              </a:rPr>
              <a:t>, demostrando que la calidad del contenido tiene mayor impacto que el alcance por sí solo.</a:t>
            </a:r>
            <a:endParaRPr lang="en-US" sz="1000" dirty="0"/>
          </a:p>
        </p:txBody>
      </p:sp>
      <p:sp>
        <p:nvSpPr>
          <p:cNvPr id="24" name="Shape 21"/>
          <p:cNvSpPr/>
          <p:nvPr/>
        </p:nvSpPr>
        <p:spPr>
          <a:xfrm>
            <a:off x="5889180" y="4001443"/>
            <a:ext cx="413434" cy="413445"/>
          </a:xfrm>
          <a:prstGeom prst="roundRect">
            <a:avLst>
              <a:gd name="adj" fmla="val 6001"/>
            </a:avLst>
          </a:prstGeom>
          <a:solidFill>
            <a:srgbClr val="FFFFFF"/>
          </a:solidFill>
          <a:ln w="19050">
            <a:solidFill>
              <a:srgbClr val="D8D4D4"/>
            </a:solidFill>
            <a:prstDash val="solid"/>
          </a:ln>
        </p:spPr>
      </p:sp>
      <p:pic>
        <p:nvPicPr>
          <p:cNvPr id="2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92563" y="4104729"/>
            <a:ext cx="206667" cy="206673"/>
          </a:xfrm>
          <a:prstGeom prst="rect">
            <a:avLst/>
          </a:prstGeom>
        </p:spPr>
      </p:pic>
      <p:sp>
        <p:nvSpPr>
          <p:cNvPr id="26" name="Shape 22"/>
          <p:cNvSpPr/>
          <p:nvPr/>
        </p:nvSpPr>
        <p:spPr>
          <a:xfrm>
            <a:off x="661475" y="5055989"/>
            <a:ext cx="10868745" cy="661293"/>
          </a:xfrm>
          <a:prstGeom prst="roundRect">
            <a:avLst>
              <a:gd name="adj" fmla="val 3752"/>
            </a:avLst>
          </a:prstGeom>
          <a:solidFill>
            <a:srgbClr val="B6FCB8"/>
          </a:solidFill>
          <a:ln/>
        </p:spPr>
      </p:sp>
      <p:pic>
        <p:nvPicPr>
          <p:cNvPr id="27" name="Image 2" descr="preencoded.png">    </p:cNvPr>
          <p:cNvPicPr>
            <a:picLocks noChangeAspect="1"/>
          </p:cNvPicPr>
          <p:nvPr/>
        </p:nvPicPr>
        <p:blipFill>
          <a:blip r:embed="rId5"/>
          <a:stretch>
            <a:fillRect/>
          </a:stretch>
        </p:blipFill>
        <p:spPr>
          <a:xfrm>
            <a:off x="826769" y="5295702"/>
            <a:ext cx="206667" cy="165298"/>
          </a:xfrm>
          <a:prstGeom prst="rect">
            <a:avLst/>
          </a:prstGeom>
        </p:spPr>
      </p:pic>
      <p:sp>
        <p:nvSpPr>
          <p:cNvPr id="28" name="Text 23"/>
          <p:cNvSpPr/>
          <p:nvPr/>
        </p:nvSpPr>
        <p:spPr>
          <a:xfrm>
            <a:off x="1198731" y="5262563"/>
            <a:ext cx="10775780" cy="264616"/>
          </a:xfrm>
          <a:prstGeom prst="rect">
            <a:avLst/>
          </a:prstGeom>
          <a:noFill/>
          <a:ln/>
        </p:spPr>
        <p:txBody>
          <a:bodyPr wrap="none" lIns="0" tIns="0" rIns="0" bIns="0" rtlCol="0" anchor="t"/>
          <a:lstStyle/>
          <a:p>
            <a:pPr algn="l" indent="0" marL="0">
              <a:lnSpc>
                <a:spcPct val="133000"/>
              </a:lnSpc>
              <a:buNone/>
            </a:pPr>
            <a:r>
              <a:rPr lang="en-US" sz="1300" b="1" dirty="0">
                <a:solidFill>
                  <a:srgbClr val="000000"/>
                </a:solidFill>
                <a:latin typeface="Heebo Bold" pitchFamily="34" charset="0"/>
                <a:ea typeface="Heebo Bold" pitchFamily="34" charset="-122"/>
                <a:cs typeface="Heebo Bold" pitchFamily="34" charset="-120"/>
              </a:rPr>
              <a:t>Los datos generan valor cuando permiten tomar mejores decisiones.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2026-07-31T06:36:56Z</dcterms:created>
  <dcterms:modified xsi:type="dcterms:W3CDTF">2026-07-31T06:36:56Z</dcterms:modified>
</cp:coreProperties>
</file>